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5" r:id="rId1"/>
  </p:sldMasterIdLst>
  <p:notesMasterIdLst>
    <p:notesMasterId r:id="rId14"/>
  </p:notesMasterIdLst>
  <p:sldIdLst>
    <p:sldId id="277" r:id="rId2"/>
    <p:sldId id="280" r:id="rId3"/>
    <p:sldId id="281" r:id="rId4"/>
    <p:sldId id="282" r:id="rId5"/>
    <p:sldId id="283" r:id="rId6"/>
    <p:sldId id="284" r:id="rId7"/>
    <p:sldId id="285" r:id="rId8"/>
    <p:sldId id="286" r:id="rId9"/>
    <p:sldId id="287" r:id="rId10"/>
    <p:sldId id="288" r:id="rId11"/>
    <p:sldId id="289" r:id="rId12"/>
    <p:sldId id="279" r:id="rId13"/>
  </p:sldIdLst>
  <p:sldSz cx="9144000" cy="5143500" type="screen16x9"/>
  <p:notesSz cx="6858000" cy="9144000"/>
  <p:embeddedFontLst>
    <p:embeddedFont>
      <p:font typeface="Akatab" panose="020B0604020202020204" charset="0"/>
      <p:regular r:id="rId15"/>
      <p:bold r:id="rId16"/>
    </p:embeddedFont>
    <p:embeddedFont>
      <p:font typeface="Castoro" panose="020B0604020202020204" charset="0"/>
      <p:regular r:id="rId17"/>
      <p:italic r:id="rId18"/>
    </p:embeddedFont>
    <p:embeddedFont>
      <p:font typeface="Consolas" panose="020B0609020204030204" pitchFamily="49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E4A624E-C7F9-4CB7-A30D-41E38F5E4052}">
  <a:tblStyle styleId="{AE4A624E-C7F9-4CB7-A30D-41E38F5E405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D713B15-7BA9-4BF7-87BA-EBD48C377B3A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67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9" name="Google Shape;559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188100" y="188100"/>
            <a:ext cx="8767800" cy="476730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42863" dist="9525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katab"/>
              <a:ea typeface="Akatab"/>
              <a:cs typeface="Akatab"/>
              <a:sym typeface="Akatab"/>
            </a:endParaRPr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1597400" y="667850"/>
            <a:ext cx="6396300" cy="229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000" b="0">
                <a:latin typeface="Castoro"/>
                <a:ea typeface="Castoro"/>
                <a:cs typeface="Castoro"/>
                <a:sym typeface="Castor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5463800" y="3480892"/>
            <a:ext cx="2529900" cy="67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189050" y="182425"/>
            <a:ext cx="7989600" cy="3901800"/>
            <a:chOff x="189050" y="182425"/>
            <a:chExt cx="7989600" cy="3901800"/>
          </a:xfrm>
        </p:grpSpPr>
        <p:grpSp>
          <p:nvGrpSpPr>
            <p:cNvPr id="13" name="Google Shape;13;p2"/>
            <p:cNvGrpSpPr/>
            <p:nvPr/>
          </p:nvGrpSpPr>
          <p:grpSpPr>
            <a:xfrm>
              <a:off x="189050" y="321905"/>
              <a:ext cx="7989600" cy="81900"/>
              <a:chOff x="189050" y="284125"/>
              <a:chExt cx="7989600" cy="81900"/>
            </a:xfrm>
          </p:grpSpPr>
          <p:sp>
            <p:nvSpPr>
              <p:cNvPr id="14" name="Google Shape;14;p2"/>
              <p:cNvSpPr/>
              <p:nvPr/>
            </p:nvSpPr>
            <p:spPr>
              <a:xfrm rot="-5400000">
                <a:off x="7884800" y="72175"/>
                <a:ext cx="81900" cy="505800"/>
              </a:xfrm>
              <a:prstGeom prst="roundRect">
                <a:avLst>
                  <a:gd name="adj" fmla="val 5000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katab"/>
                  <a:ea typeface="Akatab"/>
                  <a:cs typeface="Akatab"/>
                  <a:sym typeface="Akatab"/>
                </a:endParaRPr>
              </a:p>
            </p:txBody>
          </p:sp>
          <p:cxnSp>
            <p:nvCxnSpPr>
              <p:cNvPr id="15" name="Google Shape;15;p2"/>
              <p:cNvCxnSpPr>
                <a:stCxn id="14" idx="0"/>
              </p:cNvCxnSpPr>
              <p:nvPr/>
            </p:nvCxnSpPr>
            <p:spPr>
              <a:xfrm rot="10800000">
                <a:off x="189050" y="325075"/>
                <a:ext cx="7483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dot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6" name="Google Shape;16;p2"/>
            <p:cNvGrpSpPr/>
            <p:nvPr/>
          </p:nvGrpSpPr>
          <p:grpSpPr>
            <a:xfrm>
              <a:off x="403625" y="182425"/>
              <a:ext cx="81900" cy="3901800"/>
              <a:chOff x="403625" y="182425"/>
              <a:chExt cx="81900" cy="3901800"/>
            </a:xfrm>
          </p:grpSpPr>
          <p:sp>
            <p:nvSpPr>
              <p:cNvPr id="17" name="Google Shape;17;p2"/>
              <p:cNvSpPr/>
              <p:nvPr/>
            </p:nvSpPr>
            <p:spPr>
              <a:xfrm>
                <a:off x="403625" y="3578425"/>
                <a:ext cx="81900" cy="505800"/>
              </a:xfrm>
              <a:prstGeom prst="roundRect">
                <a:avLst>
                  <a:gd name="adj" fmla="val 5000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katab"/>
                  <a:ea typeface="Akatab"/>
                  <a:cs typeface="Akatab"/>
                  <a:sym typeface="Akatab"/>
                </a:endParaRPr>
              </a:p>
            </p:txBody>
          </p:sp>
          <p:cxnSp>
            <p:nvCxnSpPr>
              <p:cNvPr id="18" name="Google Shape;18;p2"/>
              <p:cNvCxnSpPr>
                <a:stCxn id="17" idx="0"/>
              </p:cNvCxnSpPr>
              <p:nvPr/>
            </p:nvCxnSpPr>
            <p:spPr>
              <a:xfrm rot="10800000">
                <a:off x="444575" y="182425"/>
                <a:ext cx="0" cy="3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8"/>
          <p:cNvSpPr/>
          <p:nvPr/>
        </p:nvSpPr>
        <p:spPr>
          <a:xfrm>
            <a:off x="188100" y="188100"/>
            <a:ext cx="8767800" cy="476730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42863" dist="9525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katab"/>
              <a:ea typeface="Akatab"/>
              <a:cs typeface="Akatab"/>
              <a:sym typeface="Akatab"/>
            </a:endParaRPr>
          </a:p>
        </p:txBody>
      </p:sp>
      <p:sp>
        <p:nvSpPr>
          <p:cNvPr id="65" name="Google Shape;65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grpSp>
        <p:nvGrpSpPr>
          <p:cNvPr id="66" name="Google Shape;66;p8"/>
          <p:cNvGrpSpPr/>
          <p:nvPr/>
        </p:nvGrpSpPr>
        <p:grpSpPr>
          <a:xfrm>
            <a:off x="384800" y="859801"/>
            <a:ext cx="8571101" cy="4095600"/>
            <a:chOff x="384800" y="859801"/>
            <a:chExt cx="8571101" cy="4095600"/>
          </a:xfrm>
        </p:grpSpPr>
        <p:sp>
          <p:nvSpPr>
            <p:cNvPr id="67" name="Google Shape;67;p8"/>
            <p:cNvSpPr/>
            <p:nvPr/>
          </p:nvSpPr>
          <p:spPr>
            <a:xfrm flipH="1">
              <a:off x="7855150" y="859801"/>
              <a:ext cx="81900" cy="505800"/>
            </a:xfrm>
            <a:prstGeom prst="round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katab"/>
                <a:ea typeface="Akatab"/>
                <a:cs typeface="Akatab"/>
                <a:sym typeface="Akatab"/>
              </a:endParaRPr>
            </a:p>
          </p:txBody>
        </p:sp>
        <p:cxnSp>
          <p:nvCxnSpPr>
            <p:cNvPr id="68" name="Google Shape;68;p8"/>
            <p:cNvCxnSpPr/>
            <p:nvPr/>
          </p:nvCxnSpPr>
          <p:spPr>
            <a:xfrm rot="5400000">
              <a:off x="5939200" y="2998501"/>
              <a:ext cx="3913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9" name="Google Shape;69;p8"/>
            <p:cNvSpPr/>
            <p:nvPr/>
          </p:nvSpPr>
          <p:spPr>
            <a:xfrm rot="-5400000" flipH="1">
              <a:off x="596750" y="4501752"/>
              <a:ext cx="81900" cy="505800"/>
            </a:xfrm>
            <a:prstGeom prst="round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katab"/>
                <a:ea typeface="Akatab"/>
                <a:cs typeface="Akatab"/>
                <a:sym typeface="Akatab"/>
              </a:endParaRPr>
            </a:p>
          </p:txBody>
        </p:sp>
        <p:cxnSp>
          <p:nvCxnSpPr>
            <p:cNvPr id="70" name="Google Shape;70;p8"/>
            <p:cNvCxnSpPr/>
            <p:nvPr/>
          </p:nvCxnSpPr>
          <p:spPr>
            <a:xfrm>
              <a:off x="898501" y="4754652"/>
              <a:ext cx="8057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ot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9"/>
          <p:cNvSpPr/>
          <p:nvPr/>
        </p:nvSpPr>
        <p:spPr>
          <a:xfrm>
            <a:off x="188100" y="188100"/>
            <a:ext cx="8767800" cy="476730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42863" dist="9525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katab"/>
              <a:ea typeface="Akatab"/>
              <a:cs typeface="Akatab"/>
              <a:sym typeface="Akatab"/>
            </a:endParaRPr>
          </a:p>
        </p:txBody>
      </p:sp>
      <p:sp>
        <p:nvSpPr>
          <p:cNvPr id="73" name="Google Shape;73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74" name="Google Shape;74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75" name="Google Shape;75;p9"/>
          <p:cNvGrpSpPr/>
          <p:nvPr/>
        </p:nvGrpSpPr>
        <p:grpSpPr>
          <a:xfrm>
            <a:off x="188100" y="338850"/>
            <a:ext cx="8771701" cy="4488651"/>
            <a:chOff x="188100" y="338850"/>
            <a:chExt cx="8771701" cy="4488651"/>
          </a:xfrm>
        </p:grpSpPr>
        <p:sp>
          <p:nvSpPr>
            <p:cNvPr id="76" name="Google Shape;76;p9"/>
            <p:cNvSpPr/>
            <p:nvPr/>
          </p:nvSpPr>
          <p:spPr>
            <a:xfrm rot="5400000">
              <a:off x="3980800" y="4533651"/>
              <a:ext cx="81900" cy="505800"/>
            </a:xfrm>
            <a:prstGeom prst="round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katab"/>
                <a:ea typeface="Akatab"/>
                <a:cs typeface="Akatab"/>
                <a:sym typeface="Akatab"/>
              </a:endParaRPr>
            </a:p>
          </p:txBody>
        </p:sp>
        <p:cxnSp>
          <p:nvCxnSpPr>
            <p:cNvPr id="77" name="Google Shape;77;p9"/>
            <p:cNvCxnSpPr/>
            <p:nvPr/>
          </p:nvCxnSpPr>
          <p:spPr>
            <a:xfrm rot="10800000">
              <a:off x="188100" y="4786551"/>
              <a:ext cx="3913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8" name="Google Shape;78;p9"/>
            <p:cNvSpPr/>
            <p:nvPr/>
          </p:nvSpPr>
          <p:spPr>
            <a:xfrm rot="-5400000">
              <a:off x="600650" y="126900"/>
              <a:ext cx="81900" cy="505800"/>
            </a:xfrm>
            <a:prstGeom prst="round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katab"/>
                <a:ea typeface="Akatab"/>
                <a:cs typeface="Akatab"/>
                <a:sym typeface="Akatab"/>
              </a:endParaRPr>
            </a:p>
          </p:txBody>
        </p:sp>
        <p:cxnSp>
          <p:nvCxnSpPr>
            <p:cNvPr id="79" name="Google Shape;79;p9"/>
            <p:cNvCxnSpPr/>
            <p:nvPr/>
          </p:nvCxnSpPr>
          <p:spPr>
            <a:xfrm>
              <a:off x="902401" y="379800"/>
              <a:ext cx="8057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ot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bg>
      <p:bgPr>
        <a:solidFill>
          <a:schemeClr val="dk2"/>
        </a:solidFill>
        <a:effectLst/>
      </p:bgPr>
    </p:bg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4"/>
          <p:cNvSpPr/>
          <p:nvPr/>
        </p:nvSpPr>
        <p:spPr>
          <a:xfrm>
            <a:off x="188100" y="188100"/>
            <a:ext cx="8767800" cy="47673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42863" dist="9525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katab"/>
              <a:ea typeface="Akatab"/>
              <a:cs typeface="Akatab"/>
              <a:sym typeface="Akatab"/>
            </a:endParaRPr>
          </a:p>
        </p:txBody>
      </p:sp>
      <p:grpSp>
        <p:nvGrpSpPr>
          <p:cNvPr id="218" name="Google Shape;218;p24"/>
          <p:cNvGrpSpPr/>
          <p:nvPr/>
        </p:nvGrpSpPr>
        <p:grpSpPr>
          <a:xfrm>
            <a:off x="384800" y="347900"/>
            <a:ext cx="8571101" cy="81900"/>
            <a:chOff x="384800" y="347900"/>
            <a:chExt cx="8571101" cy="81900"/>
          </a:xfrm>
        </p:grpSpPr>
        <p:sp>
          <p:nvSpPr>
            <p:cNvPr id="219" name="Google Shape;219;p24"/>
            <p:cNvSpPr/>
            <p:nvPr/>
          </p:nvSpPr>
          <p:spPr>
            <a:xfrm rot="-5400000">
              <a:off x="596750" y="135950"/>
              <a:ext cx="81900" cy="50580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katab"/>
                <a:ea typeface="Akatab"/>
                <a:cs typeface="Akatab"/>
                <a:sym typeface="Akatab"/>
              </a:endParaRPr>
            </a:p>
          </p:txBody>
        </p:sp>
        <p:cxnSp>
          <p:nvCxnSpPr>
            <p:cNvPr id="220" name="Google Shape;220;p24"/>
            <p:cNvCxnSpPr/>
            <p:nvPr/>
          </p:nvCxnSpPr>
          <p:spPr>
            <a:xfrm>
              <a:off x="898501" y="388850"/>
              <a:ext cx="80574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21" name="Google Shape;221;p24"/>
          <p:cNvSpPr txBox="1">
            <a:spLocks noGrp="1"/>
          </p:cNvSpPr>
          <p:nvPr>
            <p:ph type="title"/>
          </p:nvPr>
        </p:nvSpPr>
        <p:spPr>
          <a:xfrm>
            <a:off x="2347938" y="714075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6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2" name="Google Shape;222;p24"/>
          <p:cNvSpPr txBox="1">
            <a:spLocks noGrp="1"/>
          </p:cNvSpPr>
          <p:nvPr>
            <p:ph type="subTitle" idx="1"/>
          </p:nvPr>
        </p:nvSpPr>
        <p:spPr>
          <a:xfrm>
            <a:off x="2347900" y="1683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3" name="Google Shape;223;p24"/>
          <p:cNvSpPr txBox="1"/>
          <p:nvPr/>
        </p:nvSpPr>
        <p:spPr>
          <a:xfrm>
            <a:off x="2204825" y="3730879"/>
            <a:ext cx="47343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Akatab"/>
                <a:ea typeface="Akatab"/>
                <a:cs typeface="Akatab"/>
                <a:sym typeface="Akatab"/>
              </a:rPr>
              <a:t>CREDITS: This presentation template was created by </a:t>
            </a:r>
            <a:r>
              <a:rPr lang="en" sz="1100" b="1" u="sng">
                <a:solidFill>
                  <a:schemeClr val="lt1"/>
                </a:solidFill>
                <a:latin typeface="Akatab"/>
                <a:ea typeface="Akatab"/>
                <a:cs typeface="Akatab"/>
                <a:sym typeface="Akatab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100">
                <a:solidFill>
                  <a:schemeClr val="lt1"/>
                </a:solidFill>
                <a:latin typeface="Akatab"/>
                <a:ea typeface="Akatab"/>
                <a:cs typeface="Akatab"/>
                <a:sym typeface="Akatab"/>
              </a:rPr>
              <a:t>, and includes icons by </a:t>
            </a:r>
            <a:r>
              <a:rPr lang="en" sz="1100" b="1" u="sng">
                <a:solidFill>
                  <a:schemeClr val="lt1"/>
                </a:solidFill>
                <a:latin typeface="Akatab"/>
                <a:ea typeface="Akatab"/>
                <a:cs typeface="Akatab"/>
                <a:sym typeface="Akatab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100">
                <a:solidFill>
                  <a:schemeClr val="lt1"/>
                </a:solidFill>
                <a:latin typeface="Akatab"/>
                <a:ea typeface="Akatab"/>
                <a:cs typeface="Akatab"/>
                <a:sym typeface="Akatab"/>
              </a:rPr>
              <a:t>, and infographics &amp; images by </a:t>
            </a:r>
            <a:r>
              <a:rPr lang="en" sz="1100" b="1" u="sng">
                <a:solidFill>
                  <a:schemeClr val="lt1"/>
                </a:solidFill>
                <a:latin typeface="Akatab"/>
                <a:ea typeface="Akatab"/>
                <a:cs typeface="Akatab"/>
                <a:sym typeface="Akatab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100" u="sng">
                <a:solidFill>
                  <a:schemeClr val="lt1"/>
                </a:solidFill>
                <a:latin typeface="Akatab"/>
                <a:ea typeface="Akatab"/>
                <a:cs typeface="Akatab"/>
                <a:sym typeface="Akatab"/>
              </a:rPr>
              <a:t> </a:t>
            </a:r>
            <a:endParaRPr sz="1100" u="sng">
              <a:solidFill>
                <a:schemeClr val="lt1"/>
              </a:solidFill>
              <a:latin typeface="Akatab"/>
              <a:ea typeface="Akatab"/>
              <a:cs typeface="Akatab"/>
              <a:sym typeface="Akatab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5"/>
          <p:cNvSpPr/>
          <p:nvPr/>
        </p:nvSpPr>
        <p:spPr>
          <a:xfrm>
            <a:off x="188100" y="188100"/>
            <a:ext cx="8767800" cy="476730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42863" dist="9525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katab"/>
              <a:ea typeface="Akatab"/>
              <a:cs typeface="Akatab"/>
              <a:sym typeface="Akatab"/>
            </a:endParaRPr>
          </a:p>
        </p:txBody>
      </p:sp>
      <p:grpSp>
        <p:nvGrpSpPr>
          <p:cNvPr id="226" name="Google Shape;226;p25"/>
          <p:cNvGrpSpPr/>
          <p:nvPr/>
        </p:nvGrpSpPr>
        <p:grpSpPr>
          <a:xfrm>
            <a:off x="6554694" y="808785"/>
            <a:ext cx="2401200" cy="4139700"/>
            <a:chOff x="6554694" y="808785"/>
            <a:chExt cx="2401200" cy="4139700"/>
          </a:xfrm>
        </p:grpSpPr>
        <p:sp>
          <p:nvSpPr>
            <p:cNvPr id="227" name="Google Shape;227;p25"/>
            <p:cNvSpPr/>
            <p:nvPr/>
          </p:nvSpPr>
          <p:spPr>
            <a:xfrm rot="-5400000">
              <a:off x="6766644" y="4549275"/>
              <a:ext cx="81900" cy="505800"/>
            </a:xfrm>
            <a:prstGeom prst="roundRect">
              <a:avLst>
                <a:gd name="adj" fmla="val 50000"/>
              </a:avLst>
            </a:prstGeom>
            <a:solidFill>
              <a:schemeClr val="dk1"/>
            </a:solidFill>
            <a:ln w="9525" cap="flat" cmpd="sng">
              <a:solidFill>
                <a:srgbClr val="000000"/>
              </a:solidFill>
              <a:prstDash val="dot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katab"/>
                <a:ea typeface="Akatab"/>
                <a:cs typeface="Akatab"/>
                <a:sym typeface="Akatab"/>
              </a:endParaRPr>
            </a:p>
          </p:txBody>
        </p:sp>
        <p:cxnSp>
          <p:nvCxnSpPr>
            <p:cNvPr id="228" name="Google Shape;228;p25"/>
            <p:cNvCxnSpPr>
              <a:stCxn id="227" idx="2"/>
            </p:cNvCxnSpPr>
            <p:nvPr/>
          </p:nvCxnSpPr>
          <p:spPr>
            <a:xfrm>
              <a:off x="7060494" y="4802175"/>
              <a:ext cx="1895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ot"/>
              <a:round/>
              <a:headEnd type="none" w="med" len="med"/>
              <a:tailEnd type="none" w="med" len="med"/>
            </a:ln>
          </p:spPr>
        </p:cxnSp>
        <p:sp>
          <p:nvSpPr>
            <p:cNvPr id="229" name="Google Shape;229;p25"/>
            <p:cNvSpPr/>
            <p:nvPr/>
          </p:nvSpPr>
          <p:spPr>
            <a:xfrm>
              <a:off x="8665694" y="808785"/>
              <a:ext cx="81900" cy="505800"/>
            </a:xfrm>
            <a:prstGeom prst="roundRect">
              <a:avLst>
                <a:gd name="adj" fmla="val 50000"/>
              </a:avLst>
            </a:prstGeom>
            <a:solidFill>
              <a:schemeClr val="dk1"/>
            </a:solidFill>
            <a:ln w="9525" cap="flat" cmpd="sng">
              <a:solidFill>
                <a:srgbClr val="000000"/>
              </a:solidFill>
              <a:prstDash val="dot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katab"/>
                <a:ea typeface="Akatab"/>
                <a:cs typeface="Akatab"/>
                <a:sym typeface="Akatab"/>
              </a:endParaRPr>
            </a:p>
          </p:txBody>
        </p:sp>
        <p:cxnSp>
          <p:nvCxnSpPr>
            <p:cNvPr id="230" name="Google Shape;230;p25"/>
            <p:cNvCxnSpPr>
              <a:stCxn id="229" idx="2"/>
            </p:cNvCxnSpPr>
            <p:nvPr/>
          </p:nvCxnSpPr>
          <p:spPr>
            <a:xfrm>
              <a:off x="8706644" y="1314585"/>
              <a:ext cx="0" cy="3633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ot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6"/>
          <p:cNvSpPr/>
          <p:nvPr/>
        </p:nvSpPr>
        <p:spPr>
          <a:xfrm>
            <a:off x="188100" y="188100"/>
            <a:ext cx="8767800" cy="476730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42863" dist="9525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katab"/>
              <a:ea typeface="Akatab"/>
              <a:cs typeface="Akatab"/>
              <a:sym typeface="Akatab"/>
            </a:endParaRPr>
          </a:p>
        </p:txBody>
      </p:sp>
      <p:grpSp>
        <p:nvGrpSpPr>
          <p:cNvPr id="233" name="Google Shape;233;p26"/>
          <p:cNvGrpSpPr/>
          <p:nvPr/>
        </p:nvGrpSpPr>
        <p:grpSpPr>
          <a:xfrm>
            <a:off x="188094" y="315075"/>
            <a:ext cx="4139700" cy="4513360"/>
            <a:chOff x="188094" y="329775"/>
            <a:chExt cx="4139700" cy="4513360"/>
          </a:xfrm>
        </p:grpSpPr>
        <p:sp>
          <p:nvSpPr>
            <p:cNvPr id="234" name="Google Shape;234;p26"/>
            <p:cNvSpPr/>
            <p:nvPr/>
          </p:nvSpPr>
          <p:spPr>
            <a:xfrm rot="5400000">
              <a:off x="4033944" y="4549285"/>
              <a:ext cx="81900" cy="505800"/>
            </a:xfrm>
            <a:prstGeom prst="round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katab"/>
                <a:ea typeface="Akatab"/>
                <a:cs typeface="Akatab"/>
                <a:sym typeface="Akatab"/>
              </a:endParaRPr>
            </a:p>
          </p:txBody>
        </p:sp>
        <p:cxnSp>
          <p:nvCxnSpPr>
            <p:cNvPr id="235" name="Google Shape;235;p26"/>
            <p:cNvCxnSpPr>
              <a:stCxn id="234" idx="2"/>
            </p:cNvCxnSpPr>
            <p:nvPr/>
          </p:nvCxnSpPr>
          <p:spPr>
            <a:xfrm rot="10800000">
              <a:off x="188094" y="4802185"/>
              <a:ext cx="3633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36" name="Google Shape;236;p26"/>
            <p:cNvSpPr/>
            <p:nvPr/>
          </p:nvSpPr>
          <p:spPr>
            <a:xfrm rot="5400000">
              <a:off x="2295444" y="117825"/>
              <a:ext cx="81900" cy="505800"/>
            </a:xfrm>
            <a:prstGeom prst="round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katab"/>
                <a:ea typeface="Akatab"/>
                <a:cs typeface="Akatab"/>
                <a:sym typeface="Akatab"/>
              </a:endParaRPr>
            </a:p>
          </p:txBody>
        </p:sp>
        <p:cxnSp>
          <p:nvCxnSpPr>
            <p:cNvPr id="237" name="Google Shape;237;p26"/>
            <p:cNvCxnSpPr>
              <a:stCxn id="236" idx="2"/>
            </p:cNvCxnSpPr>
            <p:nvPr/>
          </p:nvCxnSpPr>
          <p:spPr>
            <a:xfrm rot="10800000">
              <a:off x="188094" y="370725"/>
              <a:ext cx="1895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storo"/>
              <a:buNone/>
              <a:defRPr sz="3000">
                <a:solidFill>
                  <a:schemeClr val="dk1"/>
                </a:solidFill>
                <a:latin typeface="Castoro"/>
                <a:ea typeface="Castoro"/>
                <a:cs typeface="Castoro"/>
                <a:sym typeface="Castor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storo"/>
              <a:buNone/>
              <a:defRPr sz="3000">
                <a:solidFill>
                  <a:schemeClr val="dk1"/>
                </a:solidFill>
                <a:latin typeface="Castoro"/>
                <a:ea typeface="Castoro"/>
                <a:cs typeface="Castoro"/>
                <a:sym typeface="Castor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storo"/>
              <a:buNone/>
              <a:defRPr sz="3000">
                <a:solidFill>
                  <a:schemeClr val="dk1"/>
                </a:solidFill>
                <a:latin typeface="Castoro"/>
                <a:ea typeface="Castoro"/>
                <a:cs typeface="Castoro"/>
                <a:sym typeface="Castor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storo"/>
              <a:buNone/>
              <a:defRPr sz="3000">
                <a:solidFill>
                  <a:schemeClr val="dk1"/>
                </a:solidFill>
                <a:latin typeface="Castoro"/>
                <a:ea typeface="Castoro"/>
                <a:cs typeface="Castoro"/>
                <a:sym typeface="Castor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storo"/>
              <a:buNone/>
              <a:defRPr sz="3000">
                <a:solidFill>
                  <a:schemeClr val="dk1"/>
                </a:solidFill>
                <a:latin typeface="Castoro"/>
                <a:ea typeface="Castoro"/>
                <a:cs typeface="Castoro"/>
                <a:sym typeface="Castor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storo"/>
              <a:buNone/>
              <a:defRPr sz="3000">
                <a:solidFill>
                  <a:schemeClr val="dk1"/>
                </a:solidFill>
                <a:latin typeface="Castoro"/>
                <a:ea typeface="Castoro"/>
                <a:cs typeface="Castoro"/>
                <a:sym typeface="Castor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storo"/>
              <a:buNone/>
              <a:defRPr sz="3000">
                <a:solidFill>
                  <a:schemeClr val="dk1"/>
                </a:solidFill>
                <a:latin typeface="Castoro"/>
                <a:ea typeface="Castoro"/>
                <a:cs typeface="Castoro"/>
                <a:sym typeface="Castor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storo"/>
              <a:buNone/>
              <a:defRPr sz="3000">
                <a:solidFill>
                  <a:schemeClr val="dk1"/>
                </a:solidFill>
                <a:latin typeface="Castoro"/>
                <a:ea typeface="Castoro"/>
                <a:cs typeface="Castoro"/>
                <a:sym typeface="Castor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storo"/>
              <a:buNone/>
              <a:defRPr sz="3000">
                <a:solidFill>
                  <a:schemeClr val="dk1"/>
                </a:solidFill>
                <a:latin typeface="Castoro"/>
                <a:ea typeface="Castoro"/>
                <a:cs typeface="Castoro"/>
                <a:sym typeface="Castor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●"/>
              <a:defRPr sz="1200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1pPr>
            <a:lvl2pPr marL="914400" lvl="1" indent="-304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2pPr>
            <a:lvl3pPr marL="1371600" lvl="2" indent="-304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3pPr>
            <a:lvl4pPr marL="1828800" lvl="3" indent="-304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●"/>
              <a:defRPr sz="1200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4pPr>
            <a:lvl5pPr marL="2286000" lvl="4" indent="-304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5pPr>
            <a:lvl6pPr marL="2743200" lvl="5" indent="-304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6pPr>
            <a:lvl7pPr marL="3200400" lvl="6" indent="-304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●"/>
              <a:defRPr sz="1200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7pPr>
            <a:lvl8pPr marL="3657600" lvl="7" indent="-304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8pPr>
            <a:lvl9pPr marL="4114800" lvl="8" indent="-304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4" r:id="rId2"/>
    <p:sldLayoutId id="2147483655" r:id="rId3"/>
    <p:sldLayoutId id="2147483658" r:id="rId4"/>
    <p:sldLayoutId id="2147483670" r:id="rId5"/>
    <p:sldLayoutId id="2147483671" r:id="rId6"/>
    <p:sldLayoutId id="2147483672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0"/>
          <p:cNvSpPr txBox="1">
            <a:spLocks noGrp="1"/>
          </p:cNvSpPr>
          <p:nvPr>
            <p:ph type="ctrTitle"/>
          </p:nvPr>
        </p:nvSpPr>
        <p:spPr>
          <a:xfrm>
            <a:off x="845820" y="667850"/>
            <a:ext cx="7147880" cy="229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5400" b="1" dirty="0" err="1"/>
              <a:t>Simulated</a:t>
            </a:r>
            <a:r>
              <a:rPr lang="es-MX" sz="5400" b="1" dirty="0"/>
              <a:t> </a:t>
            </a:r>
            <a:r>
              <a:rPr lang="es-MX" sz="5400" b="1" dirty="0" err="1"/>
              <a:t>Annealing</a:t>
            </a:r>
            <a:r>
              <a:rPr lang="es-MX" sz="5400" b="1" dirty="0"/>
              <a:t> </a:t>
            </a:r>
            <a:r>
              <a:rPr lang="es-MX" sz="5400" dirty="0"/>
              <a:t>vs </a:t>
            </a:r>
            <a:r>
              <a:rPr lang="es-MX" sz="5400" b="1" dirty="0"/>
              <a:t>Hill </a:t>
            </a:r>
            <a:r>
              <a:rPr lang="es-MX" sz="5400" b="1" dirty="0" err="1"/>
              <a:t>Climbing</a:t>
            </a:r>
            <a:endParaRPr lang="es-MX" sz="5400" b="1" dirty="0"/>
          </a:p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s-MX" sz="2000" i="1" dirty="0"/>
              <a:t>Implementación, comparativa y análisis de </a:t>
            </a:r>
            <a:r>
              <a:rPr lang="es-MX" sz="2000" i="1" dirty="0" err="1"/>
              <a:t>hiperparámetros</a:t>
            </a:r>
            <a:endParaRPr lang="es-MX" sz="2000" i="1" dirty="0"/>
          </a:p>
        </p:txBody>
      </p:sp>
      <p:sp>
        <p:nvSpPr>
          <p:cNvPr id="249" name="Google Shape;249;p30"/>
          <p:cNvSpPr txBox="1">
            <a:spLocks noGrp="1"/>
          </p:cNvSpPr>
          <p:nvPr>
            <p:ph type="subTitle" idx="1"/>
          </p:nvPr>
        </p:nvSpPr>
        <p:spPr>
          <a:xfrm>
            <a:off x="3566160" y="3480892"/>
            <a:ext cx="4427540" cy="67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400" b="1" dirty="0"/>
              <a:t>Inteligencia Artificial · Algoritmos de Búsqueda</a:t>
            </a:r>
          </a:p>
          <a:p>
            <a:pPr marL="0" lvl="0" indent="0" algn="r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s-MX" sz="1200" dirty="0"/>
              <a:t>Patrick Ramirez</a:t>
            </a:r>
          </a:p>
          <a:p>
            <a:pPr marL="0" lvl="0" indent="0" algn="r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s-MX" sz="1200" dirty="0"/>
              <a:t>Rodrigo Ancori</a:t>
            </a:r>
          </a:p>
          <a:p>
            <a:pPr marL="0" lvl="0" indent="0" algn="r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s-MX" sz="1200" i="1" dirty="0"/>
              <a:t>30 de abril de 2026</a:t>
            </a:r>
          </a:p>
        </p:txBody>
      </p:sp>
    </p:spTree>
    <p:extLst>
      <p:ext uri="{BB962C8B-B14F-4D97-AF65-F5344CB8AC3E}">
        <p14:creationId xmlns:p14="http://schemas.microsoft.com/office/powerpoint/2010/main" val="3552722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2E2414A-4D1D-4D54-A449-D16E87CABB88}"/>
              </a:ext>
            </a:extLst>
          </p:cNvPr>
          <p:cNvSpPr txBox="1"/>
          <p:nvPr/>
        </p:nvSpPr>
        <p:spPr>
          <a:xfrm>
            <a:off x="508000" y="381000"/>
            <a:ext cx="812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2800" b="1">
                <a:solidFill>
                  <a:srgbClr val="030920"/>
                </a:solidFill>
              </a:rPr>
              <a:t>Introducción al problema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6DB8B0BA-4EDD-4FA6-A6A0-A51960C8F30A}"/>
              </a:ext>
            </a:extLst>
          </p:cNvPr>
          <p:cNvSpPr txBox="1"/>
          <p:nvPr/>
        </p:nvSpPr>
        <p:spPr>
          <a:xfrm>
            <a:off x="508000" y="1206500"/>
            <a:ext cx="4064000" cy="3429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>
                <a:solidFill>
                  <a:srgbClr val="030920"/>
                </a:solidFill>
              </a:rPr>
              <a:t>La optimización busca el mejor valor en un espacio de soluciones.
Mínimo local: punto bajo en una región.
Mínimo global: el punto más bajo de todos.
Los algoritmos avaros se atascan en valles locales.
Necesitamos exploración para escapar.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EFAFB12-1FE9-40C8-978E-0140A0DDDCCF}"/>
              </a:ext>
            </a:extLst>
          </p:cNvPr>
          <p:cNvSpPr/>
          <p:nvPr/>
        </p:nvSpPr>
        <p:spPr>
          <a:xfrm>
            <a:off x="4826000" y="1206500"/>
            <a:ext cx="3810000" cy="3175000"/>
          </a:xfrm>
          <a:prstGeom prst="rect">
            <a:avLst/>
          </a:prstGeom>
          <a:solidFill>
            <a:srgbClr val="1A223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AA9F3FF1-DC20-435F-8111-2EAB600463DD}"/>
              </a:ext>
            </a:extLst>
          </p:cNvPr>
          <p:cNvSpPr/>
          <p:nvPr/>
        </p:nvSpPr>
        <p:spPr>
          <a:xfrm>
            <a:off x="5080000" y="2768600"/>
            <a:ext cx="762000" cy="762000"/>
          </a:xfrm>
          <a:prstGeom prst="ellipse">
            <a:avLst/>
          </a:prstGeom>
          <a:solidFill>
            <a:srgbClr val="526D8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C694F870-87A6-4F8A-8C03-9E052FE94FBD}"/>
              </a:ext>
            </a:extLst>
          </p:cNvPr>
          <p:cNvSpPr/>
          <p:nvPr/>
        </p:nvSpPr>
        <p:spPr>
          <a:xfrm>
            <a:off x="6096000" y="3238500"/>
            <a:ext cx="762000" cy="762000"/>
          </a:xfrm>
          <a:prstGeom prst="ellipse">
            <a:avLst/>
          </a:prstGeom>
          <a:solidFill>
            <a:srgbClr val="526D8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50F5EB8B-E3E6-4222-85BF-585F572B1D9D}"/>
              </a:ext>
            </a:extLst>
          </p:cNvPr>
          <p:cNvSpPr/>
          <p:nvPr/>
        </p:nvSpPr>
        <p:spPr>
          <a:xfrm>
            <a:off x="7366000" y="2387600"/>
            <a:ext cx="762000" cy="762000"/>
          </a:xfrm>
          <a:prstGeom prst="ellipse">
            <a:avLst/>
          </a:prstGeom>
          <a:solidFill>
            <a:srgbClr val="526D8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8" name="Estrella: 5 puntas 7">
            <a:extLst>
              <a:ext uri="{FF2B5EF4-FFF2-40B4-BE49-F238E27FC236}">
                <a16:creationId xmlns:a16="http://schemas.microsoft.com/office/drawing/2014/main" id="{78A39770-8DCB-4BB7-83D9-4139189E8205}"/>
              </a:ext>
            </a:extLst>
          </p:cNvPr>
          <p:cNvSpPr/>
          <p:nvPr/>
        </p:nvSpPr>
        <p:spPr>
          <a:xfrm>
            <a:off x="6286500" y="3556000"/>
            <a:ext cx="381000" cy="381000"/>
          </a:xfrm>
          <a:prstGeom prst="star5">
            <a:avLst/>
          </a:prstGeom>
          <a:solidFill>
            <a:srgbClr val="FFD700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FB261142-6C22-41C3-AF82-7DCCA1E6E704}"/>
              </a:ext>
            </a:extLst>
          </p:cNvPr>
          <p:cNvSpPr txBox="1"/>
          <p:nvPr/>
        </p:nvSpPr>
        <p:spPr>
          <a:xfrm>
            <a:off x="5016500" y="2387600"/>
            <a:ext cx="1016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000">
                <a:solidFill>
                  <a:srgbClr val="FFFFFF"/>
                </a:solidFill>
              </a:rPr>
              <a:t>Mínimo local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A593B31-74CE-4BAC-A2C4-88CA9BD67E6B}"/>
              </a:ext>
            </a:extLst>
          </p:cNvPr>
          <p:cNvSpPr txBox="1"/>
          <p:nvPr/>
        </p:nvSpPr>
        <p:spPr>
          <a:xfrm>
            <a:off x="6070600" y="4038600"/>
            <a:ext cx="12065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000" b="1">
                <a:solidFill>
                  <a:srgbClr val="FFD700"/>
                </a:solidFill>
              </a:rPr>
              <a:t>Mínimo global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5BC3996-70A1-470E-995C-506549913052}"/>
              </a:ext>
            </a:extLst>
          </p:cNvPr>
          <p:cNvSpPr txBox="1"/>
          <p:nvPr/>
        </p:nvSpPr>
        <p:spPr>
          <a:xfrm>
            <a:off x="7302500" y="2006600"/>
            <a:ext cx="1016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000">
                <a:solidFill>
                  <a:srgbClr val="FFFFFF"/>
                </a:solidFill>
              </a:rPr>
              <a:t>Mínimo local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6F80166-9B50-4027-8369-490306C0ECAC}"/>
              </a:ext>
            </a:extLst>
          </p:cNvPr>
          <p:cNvSpPr/>
          <p:nvPr/>
        </p:nvSpPr>
        <p:spPr>
          <a:xfrm>
            <a:off x="508000" y="4635500"/>
            <a:ext cx="8128000" cy="355600"/>
          </a:xfrm>
          <a:prstGeom prst="rect">
            <a:avLst/>
          </a:prstGeom>
          <a:solidFill>
            <a:srgbClr val="2A3250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s-MX" sz="1300" b="1" i="1">
                <a:solidFill>
                  <a:srgbClr val="FFFFFF"/>
                </a:solidFill>
              </a:rPr>
              <a:t>Los algoritmos avaros se atascan; necesitamos exploración</a:t>
            </a:r>
          </a:p>
        </p:txBody>
      </p:sp>
    </p:spTree>
    <p:extLst>
      <p:ext uri="{BB962C8B-B14F-4D97-AF65-F5344CB8AC3E}">
        <p14:creationId xmlns:p14="http://schemas.microsoft.com/office/powerpoint/2010/main" val="1144296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CB987A49-7DF5-428A-B777-56C37D97BCCB}"/>
              </a:ext>
            </a:extLst>
          </p:cNvPr>
          <p:cNvSpPr/>
          <p:nvPr/>
        </p:nvSpPr>
        <p:spPr>
          <a:xfrm>
            <a:off x="508000" y="381000"/>
            <a:ext cx="76200" cy="457200"/>
          </a:xfrm>
          <a:prstGeom prst="rect">
            <a:avLst/>
          </a:prstGeom>
          <a:solidFill>
            <a:srgbClr val="D6272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D8B6E87-FEB3-4E4F-847E-6D513B2E90BC}"/>
              </a:ext>
            </a:extLst>
          </p:cNvPr>
          <p:cNvSpPr txBox="1"/>
          <p:nvPr/>
        </p:nvSpPr>
        <p:spPr>
          <a:xfrm>
            <a:off x="698500" y="381000"/>
            <a:ext cx="6350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2800" b="1">
                <a:solidFill>
                  <a:srgbClr val="030920"/>
                </a:solidFill>
              </a:rPr>
              <a:t>Hill Climbing (HC)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9C17462-5EAC-4E2E-A199-845C7029CD00}"/>
              </a:ext>
            </a:extLst>
          </p:cNvPr>
          <p:cNvSpPr txBox="1"/>
          <p:nvPr/>
        </p:nvSpPr>
        <p:spPr>
          <a:xfrm>
            <a:off x="698500" y="825500"/>
            <a:ext cx="635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i="1">
                <a:solidFill>
                  <a:srgbClr val="D62728"/>
                </a:solidFill>
              </a:rPr>
              <a:t>Búsqueda local avara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73EF27C-239D-4CD7-B40D-8672EEDAA766}"/>
              </a:ext>
            </a:extLst>
          </p:cNvPr>
          <p:cNvSpPr/>
          <p:nvPr/>
        </p:nvSpPr>
        <p:spPr>
          <a:xfrm>
            <a:off x="508000" y="1333500"/>
            <a:ext cx="4318000" cy="2286000"/>
          </a:xfrm>
          <a:prstGeom prst="rect">
            <a:avLst/>
          </a:prstGeom>
          <a:solidFill>
            <a:srgbClr val="1A2238"/>
          </a:solidFill>
          <a:ln w="6350" cap="flat" cmpd="sng" algn="ctr">
            <a:solidFill>
              <a:srgbClr val="526D8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3AD6E0B-189E-4693-99AE-64F6DD620999}"/>
              </a:ext>
            </a:extLst>
          </p:cNvPr>
          <p:cNvSpPr txBox="1"/>
          <p:nvPr/>
        </p:nvSpPr>
        <p:spPr>
          <a:xfrm>
            <a:off x="635000" y="1397000"/>
            <a:ext cx="254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000" b="1">
                <a:solidFill>
                  <a:srgbClr val="FFFFFF"/>
                </a:solidFill>
              </a:rPr>
              <a:t>Pseudocódigo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E189048-6187-4692-BA4D-7C5CEA629A96}"/>
              </a:ext>
            </a:extLst>
          </p:cNvPr>
          <p:cNvSpPr txBox="1"/>
          <p:nvPr/>
        </p:nvSpPr>
        <p:spPr>
          <a:xfrm>
            <a:off x="635000" y="1651000"/>
            <a:ext cx="4064000" cy="190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200">
                <a:solidFill>
                  <a:srgbClr val="FFFFFF"/>
                </a:solidFill>
                <a:latin typeface="Consolas"/>
              </a:rPr>
              <a:t>actual ← solución_inicial
repetir:
  vecino ← mejor_vecino(actual)
  si f(vecino) mejora f(actual):
    actual ← vecino
  si no: terminar
retornar actual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597E5E5-5ECE-4D89-9471-D09FF6FBAE8B}"/>
              </a:ext>
            </a:extLst>
          </p:cNvPr>
          <p:cNvSpPr txBox="1"/>
          <p:nvPr/>
        </p:nvSpPr>
        <p:spPr>
          <a:xfrm>
            <a:off x="5080000" y="1333500"/>
            <a:ext cx="3556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200" b="1">
                <a:solidFill>
                  <a:srgbClr val="D62728"/>
                </a:solidFill>
              </a:rPr>
              <a:t>Idea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A5BA1CA-EC80-4C81-A8DA-87CA41A07890}"/>
              </a:ext>
            </a:extLst>
          </p:cNvPr>
          <p:cNvSpPr txBox="1"/>
          <p:nvPr/>
        </p:nvSpPr>
        <p:spPr>
          <a:xfrm>
            <a:off x="5080000" y="1574800"/>
            <a:ext cx="3556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300">
                <a:solidFill>
                  <a:srgbClr val="030920"/>
                </a:solidFill>
              </a:rPr>
              <a:t>Solo aceptar vecinos que mejoran la solución actual.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B8B479EC-5481-4DD1-AF7A-08B27EB77153}"/>
              </a:ext>
            </a:extLst>
          </p:cNvPr>
          <p:cNvSpPr/>
          <p:nvPr/>
        </p:nvSpPr>
        <p:spPr>
          <a:xfrm>
            <a:off x="5080000" y="2222500"/>
            <a:ext cx="3556000" cy="635000"/>
          </a:xfrm>
          <a:prstGeom prst="rect">
            <a:avLst/>
          </a:prstGeom>
          <a:solidFill>
            <a:srgbClr val="1A3A1A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C49202B5-8D8C-4C8F-B6E1-88E33095C040}"/>
              </a:ext>
            </a:extLst>
          </p:cNvPr>
          <p:cNvSpPr txBox="1"/>
          <p:nvPr/>
        </p:nvSpPr>
        <p:spPr>
          <a:xfrm>
            <a:off x="5207000" y="2286000"/>
            <a:ext cx="3302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100" b="1">
                <a:solidFill>
                  <a:srgbClr val="2CA02C"/>
                </a:solidFill>
              </a:rPr>
              <a:t>✓ Ventaja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44B8BF7-9913-4E79-99BF-C5D6A04018C1}"/>
              </a:ext>
            </a:extLst>
          </p:cNvPr>
          <p:cNvSpPr txBox="1"/>
          <p:nvPr/>
        </p:nvSpPr>
        <p:spPr>
          <a:xfrm>
            <a:off x="5207000" y="2514600"/>
            <a:ext cx="330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300">
                <a:solidFill>
                  <a:srgbClr val="FFFFFF"/>
                </a:solidFill>
              </a:rPr>
              <a:t>Simple, rápido y fácil de implementar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2CA8424E-3D4A-4DD8-AD08-A619BF68F60A}"/>
              </a:ext>
            </a:extLst>
          </p:cNvPr>
          <p:cNvSpPr/>
          <p:nvPr/>
        </p:nvSpPr>
        <p:spPr>
          <a:xfrm>
            <a:off x="5080000" y="2984500"/>
            <a:ext cx="3556000" cy="635000"/>
          </a:xfrm>
          <a:prstGeom prst="rect">
            <a:avLst/>
          </a:prstGeom>
          <a:solidFill>
            <a:srgbClr val="3A1A1A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9CAC13B-3037-47D2-81C1-F5805779B807}"/>
              </a:ext>
            </a:extLst>
          </p:cNvPr>
          <p:cNvSpPr txBox="1"/>
          <p:nvPr/>
        </p:nvSpPr>
        <p:spPr>
          <a:xfrm>
            <a:off x="5207000" y="3048000"/>
            <a:ext cx="3302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100" b="1">
                <a:solidFill>
                  <a:srgbClr val="D62728"/>
                </a:solidFill>
              </a:rPr>
              <a:t>✗ Desventaja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B5435F7D-8C4A-486D-AD9F-F90103143AA4}"/>
              </a:ext>
            </a:extLst>
          </p:cNvPr>
          <p:cNvSpPr txBox="1"/>
          <p:nvPr/>
        </p:nvSpPr>
        <p:spPr>
          <a:xfrm>
            <a:off x="5207000" y="3276600"/>
            <a:ext cx="330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300">
                <a:solidFill>
                  <a:srgbClr val="FFFFFF"/>
                </a:solidFill>
              </a:rPr>
              <a:t>Se atasca en óptimos locales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BA72F7B3-CCFA-4E1F-BE2A-340D5DBD8A95}"/>
              </a:ext>
            </a:extLst>
          </p:cNvPr>
          <p:cNvSpPr/>
          <p:nvPr/>
        </p:nvSpPr>
        <p:spPr>
          <a:xfrm>
            <a:off x="508000" y="3873500"/>
            <a:ext cx="8128000" cy="355600"/>
          </a:xfrm>
          <a:prstGeom prst="rect">
            <a:avLst/>
          </a:prstGeom>
          <a:solidFill>
            <a:srgbClr val="2A3250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s-MX" sz="1200" i="1">
                <a:solidFill>
                  <a:srgbClr val="FFFFFF"/>
                </a:solidFill>
              </a:rPr>
              <a:t>Si el vecino no mejora, HC se detiene — aunque haya algo mejor más adelante</a:t>
            </a:r>
          </a:p>
        </p:txBody>
      </p:sp>
    </p:spTree>
    <p:extLst>
      <p:ext uri="{BB962C8B-B14F-4D97-AF65-F5344CB8AC3E}">
        <p14:creationId xmlns:p14="http://schemas.microsoft.com/office/powerpoint/2010/main" val="1679697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3C36495A-51E7-4B37-A125-E8F44E4C65D7}"/>
              </a:ext>
            </a:extLst>
          </p:cNvPr>
          <p:cNvSpPr/>
          <p:nvPr/>
        </p:nvSpPr>
        <p:spPr>
          <a:xfrm>
            <a:off x="508000" y="381000"/>
            <a:ext cx="76200" cy="457200"/>
          </a:xfrm>
          <a:prstGeom prst="rect">
            <a:avLst/>
          </a:prstGeom>
          <a:solidFill>
            <a:srgbClr val="1F77B4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974578C-96E4-405E-AAF4-E76EC2483756}"/>
              </a:ext>
            </a:extLst>
          </p:cNvPr>
          <p:cNvSpPr txBox="1"/>
          <p:nvPr/>
        </p:nvSpPr>
        <p:spPr>
          <a:xfrm>
            <a:off x="698500" y="381000"/>
            <a:ext cx="6350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2800" b="1" dirty="0" err="1">
                <a:solidFill>
                  <a:srgbClr val="030920"/>
                </a:solidFill>
              </a:rPr>
              <a:t>Simulated</a:t>
            </a:r>
            <a:r>
              <a:rPr lang="es-MX" sz="2800" b="1" dirty="0">
                <a:solidFill>
                  <a:srgbClr val="030920"/>
                </a:solidFill>
              </a:rPr>
              <a:t> </a:t>
            </a:r>
            <a:r>
              <a:rPr lang="es-MX" sz="2800" b="1" dirty="0" err="1">
                <a:solidFill>
                  <a:srgbClr val="030920"/>
                </a:solidFill>
              </a:rPr>
              <a:t>Annealing</a:t>
            </a:r>
            <a:r>
              <a:rPr lang="es-MX" sz="2800" b="1" dirty="0">
                <a:solidFill>
                  <a:srgbClr val="030920"/>
                </a:solidFill>
              </a:rPr>
              <a:t> (SA)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9A4FFFA-D153-415E-B711-CD3A696F872A}"/>
              </a:ext>
            </a:extLst>
          </p:cNvPr>
          <p:cNvSpPr txBox="1"/>
          <p:nvPr/>
        </p:nvSpPr>
        <p:spPr>
          <a:xfrm>
            <a:off x="698500" y="825500"/>
            <a:ext cx="635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i="1">
                <a:solidFill>
                  <a:srgbClr val="1F77B4"/>
                </a:solidFill>
              </a:rPr>
              <a:t>Inspirado en el enfriamiento de metales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7F6AEC1-8384-420D-ABD3-A27E2D48FA85}"/>
              </a:ext>
            </a:extLst>
          </p:cNvPr>
          <p:cNvSpPr/>
          <p:nvPr/>
        </p:nvSpPr>
        <p:spPr>
          <a:xfrm>
            <a:off x="508000" y="1270000"/>
            <a:ext cx="4064000" cy="2222500"/>
          </a:xfrm>
          <a:prstGeom prst="rect">
            <a:avLst/>
          </a:prstGeom>
          <a:solidFill>
            <a:srgbClr val="1A2238"/>
          </a:solidFill>
          <a:ln w="6350" cap="flat" cmpd="sng" algn="ctr">
            <a:solidFill>
              <a:srgbClr val="526D8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6FD659E-52A0-42AC-9B89-B23F665E511E}"/>
              </a:ext>
            </a:extLst>
          </p:cNvPr>
          <p:cNvSpPr txBox="1"/>
          <p:nvPr/>
        </p:nvSpPr>
        <p:spPr>
          <a:xfrm>
            <a:off x="635000" y="1333500"/>
            <a:ext cx="2540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000" b="1">
                <a:solidFill>
                  <a:srgbClr val="FFFFFF"/>
                </a:solidFill>
              </a:rPr>
              <a:t>Pseudocódigo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389B3DC-C059-4E3A-8A54-68078C84F370}"/>
              </a:ext>
            </a:extLst>
          </p:cNvPr>
          <p:cNvSpPr txBox="1"/>
          <p:nvPr/>
        </p:nvSpPr>
        <p:spPr>
          <a:xfrm>
            <a:off x="635000" y="1549400"/>
            <a:ext cx="3810000" cy="1841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100">
                <a:solidFill>
                  <a:srgbClr val="FFFFFF"/>
                </a:solidFill>
                <a:latin typeface="Consolas"/>
              </a:rPr>
              <a:t>T ← T₀;  actual ← inicial
mientras T &gt; T_final:
  vecino ← random_vecino(actual)
  </a:t>
            </a:r>
            <a:r>
              <a:rPr lang="el-GR" sz="1100">
                <a:solidFill>
                  <a:srgbClr val="FFFFFF"/>
                </a:solidFill>
                <a:latin typeface="Consolas"/>
              </a:rPr>
              <a:t>Δ ← </a:t>
            </a:r>
            <a:r>
              <a:rPr lang="es-MX" sz="1100">
                <a:solidFill>
                  <a:srgbClr val="FFFFFF"/>
                </a:solidFill>
                <a:latin typeface="Consolas"/>
              </a:rPr>
              <a:t>f(vecino) − f(actual)
  si </a:t>
            </a:r>
            <a:r>
              <a:rPr lang="el-GR" sz="1100">
                <a:solidFill>
                  <a:srgbClr val="FFFFFF"/>
                </a:solidFill>
                <a:latin typeface="Consolas"/>
              </a:rPr>
              <a:t>Δ &lt; 0  </a:t>
            </a:r>
            <a:r>
              <a:rPr lang="es-MX" sz="1100">
                <a:solidFill>
                  <a:srgbClr val="FFFFFF"/>
                </a:solidFill>
                <a:latin typeface="Consolas"/>
              </a:rPr>
              <a:t>o  rand() &lt; exp(−</a:t>
            </a:r>
            <a:r>
              <a:rPr lang="el-GR" sz="1100">
                <a:solidFill>
                  <a:srgbClr val="FFFFFF"/>
                </a:solidFill>
                <a:latin typeface="Consolas"/>
              </a:rPr>
              <a:t>Δ/</a:t>
            </a:r>
            <a:r>
              <a:rPr lang="es-MX" sz="1100">
                <a:solidFill>
                  <a:srgbClr val="FFFFFF"/>
                </a:solidFill>
                <a:latin typeface="Consolas"/>
              </a:rPr>
              <a:t>T):
    actual ← vecino
  T ← </a:t>
            </a:r>
            <a:r>
              <a:rPr lang="el-GR" sz="1100">
                <a:solidFill>
                  <a:srgbClr val="FFFFFF"/>
                </a:solidFill>
                <a:latin typeface="Consolas"/>
              </a:rPr>
              <a:t>α · </a:t>
            </a:r>
            <a:r>
              <a:rPr lang="es-MX" sz="1100">
                <a:solidFill>
                  <a:srgbClr val="FFFFFF"/>
                </a:solidFill>
                <a:latin typeface="Consolas"/>
              </a:rPr>
              <a:t>T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0A1A944-C8E2-4AD7-BE94-82115C98F37F}"/>
              </a:ext>
            </a:extLst>
          </p:cNvPr>
          <p:cNvSpPr/>
          <p:nvPr/>
        </p:nvSpPr>
        <p:spPr>
          <a:xfrm>
            <a:off x="4826000" y="1270000"/>
            <a:ext cx="3810000" cy="762000"/>
          </a:xfrm>
          <a:prstGeom prst="rect">
            <a:avLst/>
          </a:prstGeom>
          <a:solidFill>
            <a:srgbClr val="1F77B4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47F32184-54EE-4F45-8531-5AE1DAD22A3C}"/>
              </a:ext>
            </a:extLst>
          </p:cNvPr>
          <p:cNvSpPr txBox="1"/>
          <p:nvPr/>
        </p:nvSpPr>
        <p:spPr>
          <a:xfrm>
            <a:off x="4826000" y="1270000"/>
            <a:ext cx="3810000" cy="762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MX" sz="1800" b="1">
                <a:solidFill>
                  <a:srgbClr val="FFFFFF"/>
                </a:solidFill>
              </a:rPr>
              <a:t>P(aceptar peor) = exp(−Δ / T)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21D5A83-51E5-439D-855B-FBEABBBCE490}"/>
              </a:ext>
            </a:extLst>
          </p:cNvPr>
          <p:cNvSpPr txBox="1"/>
          <p:nvPr/>
        </p:nvSpPr>
        <p:spPr>
          <a:xfrm>
            <a:off x="4826000" y="2159000"/>
            <a:ext cx="381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100" b="1">
                <a:solidFill>
                  <a:srgbClr val="030920"/>
                </a:solidFill>
              </a:rPr>
              <a:t>Temperatura controla el comportamiento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256C9506-14FD-4B37-9012-B695AB044DC7}"/>
              </a:ext>
            </a:extLst>
          </p:cNvPr>
          <p:cNvSpPr/>
          <p:nvPr/>
        </p:nvSpPr>
        <p:spPr>
          <a:xfrm>
            <a:off x="4826000" y="2438400"/>
            <a:ext cx="1841500" cy="1016000"/>
          </a:xfrm>
          <a:prstGeom prst="rect">
            <a:avLst/>
          </a:prstGeom>
          <a:solidFill>
            <a:srgbClr val="B0341E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829CC09A-9F67-4D13-B9E0-69353D1B804F}"/>
              </a:ext>
            </a:extLst>
          </p:cNvPr>
          <p:cNvSpPr txBox="1"/>
          <p:nvPr/>
        </p:nvSpPr>
        <p:spPr>
          <a:xfrm>
            <a:off x="4826000" y="2438400"/>
            <a:ext cx="1841500" cy="1016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MX" b="1">
                <a:solidFill>
                  <a:srgbClr val="FFFFFF"/>
                </a:solidFill>
              </a:rPr>
              <a:t>T alta
Exploración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6FEB2532-FBD9-41A7-AF26-CAEE6418AB94}"/>
              </a:ext>
            </a:extLst>
          </p:cNvPr>
          <p:cNvSpPr/>
          <p:nvPr/>
        </p:nvSpPr>
        <p:spPr>
          <a:xfrm>
            <a:off x="6794500" y="2438400"/>
            <a:ext cx="1841500" cy="1016000"/>
          </a:xfrm>
          <a:prstGeom prst="rect">
            <a:avLst/>
          </a:prstGeom>
          <a:solidFill>
            <a:srgbClr val="1F77B4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7A84C09-1312-489A-93AA-FACBF04DEA77}"/>
              </a:ext>
            </a:extLst>
          </p:cNvPr>
          <p:cNvSpPr txBox="1"/>
          <p:nvPr/>
        </p:nvSpPr>
        <p:spPr>
          <a:xfrm>
            <a:off x="6794500" y="2438400"/>
            <a:ext cx="1841500" cy="1016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MX" b="1">
                <a:solidFill>
                  <a:srgbClr val="FFFFFF"/>
                </a:solidFill>
              </a:rPr>
              <a:t>T baja
Explotación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E78FE730-0AA0-4EAD-B5FA-17EAA77E8363}"/>
              </a:ext>
            </a:extLst>
          </p:cNvPr>
          <p:cNvSpPr/>
          <p:nvPr/>
        </p:nvSpPr>
        <p:spPr>
          <a:xfrm>
            <a:off x="508000" y="3683000"/>
            <a:ext cx="8128000" cy="889000"/>
          </a:xfrm>
          <a:prstGeom prst="rect">
            <a:avLst/>
          </a:prstGeom>
          <a:solidFill>
            <a:srgbClr val="2A3250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ABEDA8D-2616-43C6-94CD-038AF4F5CD72}"/>
              </a:ext>
            </a:extLst>
          </p:cNvPr>
          <p:cNvSpPr txBox="1"/>
          <p:nvPr/>
        </p:nvSpPr>
        <p:spPr>
          <a:xfrm>
            <a:off x="635000" y="3746500"/>
            <a:ext cx="254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100" b="1">
                <a:solidFill>
                  <a:srgbClr val="FFFFFF"/>
                </a:solidFill>
              </a:rPr>
              <a:t>Hiperparámetros clave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78AFA162-0F95-4CEF-BB78-20D6385218E9}"/>
              </a:ext>
            </a:extLst>
          </p:cNvPr>
          <p:cNvSpPr txBox="1"/>
          <p:nvPr/>
        </p:nvSpPr>
        <p:spPr>
          <a:xfrm>
            <a:off x="635000" y="4038600"/>
            <a:ext cx="7874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200">
                <a:solidFill>
                  <a:srgbClr val="FFFFFF"/>
                </a:solidFill>
              </a:rPr>
              <a:t>T₀  temperatura inicial    ·    α  factor de enfriamiento    ·    iter_por_T  iteraciones por nivel    ·    T_final  criterio de parada</a:t>
            </a:r>
          </a:p>
        </p:txBody>
      </p:sp>
    </p:spTree>
    <p:extLst>
      <p:ext uri="{BB962C8B-B14F-4D97-AF65-F5344CB8AC3E}">
        <p14:creationId xmlns:p14="http://schemas.microsoft.com/office/powerpoint/2010/main" val="2143204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2EADE8EB-FF43-4E42-B472-E586E379D064}"/>
              </a:ext>
            </a:extLst>
          </p:cNvPr>
          <p:cNvSpPr txBox="1"/>
          <p:nvPr/>
        </p:nvSpPr>
        <p:spPr>
          <a:xfrm>
            <a:off x="508000" y="381000"/>
            <a:ext cx="8128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2800" b="1">
                <a:solidFill>
                  <a:srgbClr val="030920"/>
                </a:solidFill>
              </a:rPr>
              <a:t>Problemas usados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4B41046-623E-4CF0-BAEE-D64F10DD2A7E}"/>
              </a:ext>
            </a:extLst>
          </p:cNvPr>
          <p:cNvSpPr txBox="1"/>
          <p:nvPr/>
        </p:nvSpPr>
        <p:spPr>
          <a:xfrm>
            <a:off x="508000" y="825500"/>
            <a:ext cx="812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300" i="1">
                <a:solidFill>
                  <a:srgbClr val="030920"/>
                </a:solidFill>
              </a:rPr>
              <a:t>Un caso continuo y uno combinatorio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1B0093B-6B85-4D35-92B5-9E8237CECC54}"/>
              </a:ext>
            </a:extLst>
          </p:cNvPr>
          <p:cNvSpPr/>
          <p:nvPr/>
        </p:nvSpPr>
        <p:spPr>
          <a:xfrm>
            <a:off x="508000" y="1270000"/>
            <a:ext cx="3937000" cy="3429000"/>
          </a:xfrm>
          <a:prstGeom prst="rect">
            <a:avLst/>
          </a:prstGeom>
          <a:solidFill>
            <a:srgbClr val="1A2238"/>
          </a:solidFill>
          <a:ln w="19050" cap="flat" cmpd="sng" algn="ctr">
            <a:solidFill>
              <a:srgbClr val="1F77B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91C4036-CD61-4401-B0D0-6C5AAF471BE4}"/>
              </a:ext>
            </a:extLst>
          </p:cNvPr>
          <p:cNvSpPr/>
          <p:nvPr/>
        </p:nvSpPr>
        <p:spPr>
          <a:xfrm>
            <a:off x="508000" y="1270000"/>
            <a:ext cx="3937000" cy="457200"/>
          </a:xfrm>
          <a:prstGeom prst="rect">
            <a:avLst/>
          </a:prstGeom>
          <a:solidFill>
            <a:srgbClr val="1F77B4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4FA25D9-DDAA-47D5-BD25-AAFCED0687B3}"/>
              </a:ext>
            </a:extLst>
          </p:cNvPr>
          <p:cNvSpPr txBox="1"/>
          <p:nvPr/>
        </p:nvSpPr>
        <p:spPr>
          <a:xfrm>
            <a:off x="508000" y="1270000"/>
            <a:ext cx="3937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MX" sz="1600" b="1">
                <a:solidFill>
                  <a:srgbClr val="FFFFFF"/>
                </a:solidFill>
              </a:rPr>
              <a:t>Rastrigin · continuo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2FEB1A5-AB68-402B-8997-19C4DEF39C44}"/>
              </a:ext>
            </a:extLst>
          </p:cNvPr>
          <p:cNvSpPr txBox="1"/>
          <p:nvPr/>
        </p:nvSpPr>
        <p:spPr>
          <a:xfrm>
            <a:off x="698500" y="1905000"/>
            <a:ext cx="3556000" cy="2667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300">
                <a:solidFill>
                  <a:srgbClr val="FFFFFF"/>
                </a:solidFill>
              </a:rPr>
              <a:t>Función con muchos mínimos locales
distribuidos en una rejilla.
• Mínimo global en (0, 0, ..., 0)
• Dominio: [−5.12, 5.12]ⁿ
• Vecino: perturbación gaussiana
Ideal para mostrar cómo SA escapa
de valles locales.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E77150B-5B1B-4D85-90EB-BF7335248A3B}"/>
              </a:ext>
            </a:extLst>
          </p:cNvPr>
          <p:cNvSpPr/>
          <p:nvPr/>
        </p:nvSpPr>
        <p:spPr>
          <a:xfrm>
            <a:off x="4699000" y="1270000"/>
            <a:ext cx="3937000" cy="3429000"/>
          </a:xfrm>
          <a:prstGeom prst="rect">
            <a:avLst/>
          </a:prstGeom>
          <a:solidFill>
            <a:srgbClr val="1A2238"/>
          </a:solidFill>
          <a:ln w="19050" cap="flat" cmpd="sng" algn="ctr">
            <a:solidFill>
              <a:srgbClr val="9DB2B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1C0FB7F5-F429-474D-9711-DD8167A6FE8E}"/>
              </a:ext>
            </a:extLst>
          </p:cNvPr>
          <p:cNvSpPr/>
          <p:nvPr/>
        </p:nvSpPr>
        <p:spPr>
          <a:xfrm>
            <a:off x="4699000" y="1270000"/>
            <a:ext cx="3937000" cy="457200"/>
          </a:xfrm>
          <a:prstGeom prst="rect">
            <a:avLst/>
          </a:prstGeom>
          <a:solidFill>
            <a:srgbClr val="526D8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E3F8C5F-741E-403D-9D16-4EC7CD8A482A}"/>
              </a:ext>
            </a:extLst>
          </p:cNvPr>
          <p:cNvSpPr txBox="1"/>
          <p:nvPr/>
        </p:nvSpPr>
        <p:spPr>
          <a:xfrm>
            <a:off x="4699000" y="1270000"/>
            <a:ext cx="3937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MX" sz="1600" b="1">
                <a:solidFill>
                  <a:srgbClr val="FFFFFF"/>
                </a:solidFill>
              </a:rPr>
              <a:t>TSP · combinatorio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067F2FDE-168C-4FD0-9DC8-E0FDCB9CA0D3}"/>
              </a:ext>
            </a:extLst>
          </p:cNvPr>
          <p:cNvSpPr txBox="1"/>
          <p:nvPr/>
        </p:nvSpPr>
        <p:spPr>
          <a:xfrm>
            <a:off x="4889500" y="1905000"/>
            <a:ext cx="3556000" cy="2667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300">
                <a:solidFill>
                  <a:srgbClr val="FFFFFF"/>
                </a:solidFill>
              </a:rPr>
              <a:t>Encontrar la ruta más corta que
visita todas las ciudades una vez.
• Espacio de soluciones: n!/2
• Operador 2-opt: invertir un
  segmento de la ruta
• NP-difícil
Clásico para algoritmos
metaheurísticos.</a:t>
            </a:r>
          </a:p>
        </p:txBody>
      </p:sp>
    </p:spTree>
    <p:extLst>
      <p:ext uri="{BB962C8B-B14F-4D97-AF65-F5344CB8AC3E}">
        <p14:creationId xmlns:p14="http://schemas.microsoft.com/office/powerpoint/2010/main" val="582417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2E97F6B-67B4-4D2B-89D4-5885EC367EE1}"/>
              </a:ext>
            </a:extLst>
          </p:cNvPr>
          <p:cNvSpPr txBox="1"/>
          <p:nvPr/>
        </p:nvSpPr>
        <p:spPr>
          <a:xfrm>
            <a:off x="508000" y="317500"/>
            <a:ext cx="8128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2400" b="1">
                <a:solidFill>
                  <a:srgbClr val="030920"/>
                </a:solidFill>
              </a:rPr>
              <a:t>Visualización · Rastrigin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0B0D8FA-B50E-4319-A4BB-223DB8B83FAE}"/>
              </a:ext>
            </a:extLst>
          </p:cNvPr>
          <p:cNvSpPr/>
          <p:nvPr/>
        </p:nvSpPr>
        <p:spPr>
          <a:xfrm>
            <a:off x="508000" y="4508500"/>
            <a:ext cx="8128000" cy="406400"/>
          </a:xfrm>
          <a:prstGeom prst="rect">
            <a:avLst/>
          </a:prstGeom>
          <a:solidFill>
            <a:srgbClr val="2A3250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s-MX" sz="1300" i="1">
                <a:solidFill>
                  <a:srgbClr val="FFFFFF"/>
                </a:solidFill>
              </a:rPr>
              <a:t>HC se queda en el primer valle  ·  SA salta entre valles y converge mejor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6BA7990-2A8E-4C6A-9A4A-071920A7CC6D}"/>
              </a:ext>
            </a:extLst>
          </p:cNvPr>
          <p:cNvSpPr/>
          <p:nvPr/>
        </p:nvSpPr>
        <p:spPr>
          <a:xfrm>
            <a:off x="508000" y="825500"/>
            <a:ext cx="3937000" cy="279400"/>
          </a:xfrm>
          <a:prstGeom prst="rect">
            <a:avLst/>
          </a:prstGeom>
          <a:solidFill>
            <a:srgbClr val="D6272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s-MX" sz="1200" b="1">
                <a:solidFill>
                  <a:srgbClr val="FFFFFF"/>
                </a:solidFill>
              </a:rPr>
              <a:t>Hill Climbing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C971D16D-2132-4EB0-A6CE-F6292EB663CD}"/>
              </a:ext>
            </a:extLst>
          </p:cNvPr>
          <p:cNvSpPr/>
          <p:nvPr/>
        </p:nvSpPr>
        <p:spPr>
          <a:xfrm>
            <a:off x="4699000" y="825500"/>
            <a:ext cx="3937000" cy="279400"/>
          </a:xfrm>
          <a:prstGeom prst="rect">
            <a:avLst/>
          </a:prstGeom>
          <a:solidFill>
            <a:srgbClr val="1F77B4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s-MX" sz="1200" b="1">
                <a:solidFill>
                  <a:srgbClr val="FFFFFF"/>
                </a:solidFill>
              </a:rPr>
              <a:t>Simulated Annealing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5AE6DBC-E382-E219-05C8-03C263AA93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900" y="1168400"/>
            <a:ext cx="7683500" cy="330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3119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4149B518-1D78-464A-AB46-BC0D4C77C121}"/>
              </a:ext>
            </a:extLst>
          </p:cNvPr>
          <p:cNvSpPr txBox="1"/>
          <p:nvPr/>
        </p:nvSpPr>
        <p:spPr>
          <a:xfrm>
            <a:off x="508000" y="317500"/>
            <a:ext cx="8128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2400" b="1">
                <a:solidFill>
                  <a:srgbClr val="030920"/>
                </a:solidFill>
              </a:rPr>
              <a:t>Visualización · TSP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DABB8BD-13FF-4163-B230-9B6E03FD9C7C}"/>
              </a:ext>
            </a:extLst>
          </p:cNvPr>
          <p:cNvSpPr/>
          <p:nvPr/>
        </p:nvSpPr>
        <p:spPr>
          <a:xfrm>
            <a:off x="508000" y="825500"/>
            <a:ext cx="3937000" cy="279400"/>
          </a:xfrm>
          <a:prstGeom prst="rect">
            <a:avLst/>
          </a:prstGeom>
          <a:solidFill>
            <a:srgbClr val="D6272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s-MX" sz="1200" b="1">
                <a:solidFill>
                  <a:srgbClr val="FFFFFF"/>
                </a:solidFill>
              </a:rPr>
              <a:t>Hill Climbing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3002ECF-5325-403C-B919-F11A0F9DFC8C}"/>
              </a:ext>
            </a:extLst>
          </p:cNvPr>
          <p:cNvSpPr/>
          <p:nvPr/>
        </p:nvSpPr>
        <p:spPr>
          <a:xfrm>
            <a:off x="4699000" y="825500"/>
            <a:ext cx="3937000" cy="279400"/>
          </a:xfrm>
          <a:prstGeom prst="rect">
            <a:avLst/>
          </a:prstGeom>
          <a:solidFill>
            <a:srgbClr val="1F77B4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s-MX" sz="1200" b="1">
                <a:solidFill>
                  <a:srgbClr val="FFFFFF"/>
                </a:solidFill>
              </a:rPr>
              <a:t>Simulated Annealing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C7642A0-5FED-44CA-BA56-446D5896CE84}"/>
              </a:ext>
            </a:extLst>
          </p:cNvPr>
          <p:cNvSpPr/>
          <p:nvPr/>
        </p:nvSpPr>
        <p:spPr>
          <a:xfrm>
            <a:off x="508000" y="4508500"/>
            <a:ext cx="8128000" cy="406400"/>
          </a:xfrm>
          <a:prstGeom prst="rect">
            <a:avLst/>
          </a:prstGeom>
          <a:solidFill>
            <a:srgbClr val="2A3250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s-MX" sz="1300" i="1">
                <a:solidFill>
                  <a:srgbClr val="FFFFFF"/>
                </a:solidFill>
              </a:rPr>
              <a:t>Ambos mejoran la ruta, pero SA encuentra rutas más cortas — especialmente con n grande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B258F03-9804-1DD0-ACE5-7A3A7D4B9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900" y="1168400"/>
            <a:ext cx="7683500" cy="330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369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F653903-2EF0-4801-A5F8-70BD04F6F9CF}"/>
              </a:ext>
            </a:extLst>
          </p:cNvPr>
          <p:cNvSpPr txBox="1"/>
          <p:nvPr/>
        </p:nvSpPr>
        <p:spPr>
          <a:xfrm>
            <a:off x="508000" y="279400"/>
            <a:ext cx="812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2200" b="1">
                <a:solidFill>
                  <a:srgbClr val="030920"/>
                </a:solidFill>
              </a:rPr>
              <a:t>Comparativa cuantitativa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8666A47-FD62-4CAD-8AA7-858DB4CD51C4}"/>
              </a:ext>
            </a:extLst>
          </p:cNvPr>
          <p:cNvSpPr/>
          <p:nvPr/>
        </p:nvSpPr>
        <p:spPr>
          <a:xfrm>
            <a:off x="508000" y="3746500"/>
            <a:ext cx="8128000" cy="1206500"/>
          </a:xfrm>
          <a:prstGeom prst="rect">
            <a:avLst/>
          </a:prstGeom>
          <a:solidFill>
            <a:srgbClr val="1A223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0508A10-5498-4ABB-BE6E-D165CF9502FA}"/>
              </a:ext>
            </a:extLst>
          </p:cNvPr>
          <p:cNvSpPr txBox="1"/>
          <p:nvPr/>
        </p:nvSpPr>
        <p:spPr>
          <a:xfrm>
            <a:off x="635000" y="3835400"/>
            <a:ext cx="787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200" b="1">
                <a:solidFill>
                  <a:srgbClr val="1F77B4"/>
                </a:solidFill>
              </a:rPr>
              <a:t>● TSP n=80: SA ≈ 794 vs HC ≈ 1056  (~25% mejor)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C12C3B0-221B-445A-B401-644629DA8ED9}"/>
              </a:ext>
            </a:extLst>
          </p:cNvPr>
          <p:cNvSpPr txBox="1"/>
          <p:nvPr/>
        </p:nvSpPr>
        <p:spPr>
          <a:xfrm>
            <a:off x="635000" y="4140200"/>
            <a:ext cx="787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200" b="1">
                <a:solidFill>
                  <a:srgbClr val="D62728"/>
                </a:solidFill>
              </a:rPr>
              <a:t>● HC es 5–10× más rápido, pero la calidad cae con n grande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C50034F-09F5-44EA-9F8E-1F68D30B4471}"/>
              </a:ext>
            </a:extLst>
          </p:cNvPr>
          <p:cNvSpPr txBox="1"/>
          <p:nvPr/>
        </p:nvSpPr>
        <p:spPr>
          <a:xfrm>
            <a:off x="635000" y="4445000"/>
            <a:ext cx="787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200" b="1">
                <a:solidFill>
                  <a:srgbClr val="FFFFFF"/>
                </a:solidFill>
              </a:rPr>
              <a:t>● SA paga tiempo extra a cambio de calidad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8331E8A4-397D-0079-95D0-50BD9BB5E5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00" y="698500"/>
            <a:ext cx="4318000" cy="292100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1E13D1BC-3766-BAC1-EA2E-94B5FB295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698500"/>
            <a:ext cx="4318000" cy="292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2227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11EFE568-701B-4E4E-A9FA-A9F3FB7D2101}"/>
              </a:ext>
            </a:extLst>
          </p:cNvPr>
          <p:cNvSpPr txBox="1"/>
          <p:nvPr/>
        </p:nvSpPr>
        <p:spPr>
          <a:xfrm>
            <a:off x="508000" y="228600"/>
            <a:ext cx="8128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2200" b="1">
                <a:solidFill>
                  <a:srgbClr val="030920"/>
                </a:solidFill>
              </a:rPr>
              <a:t>Análisis de hiperparámetros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7B209943-16E2-4A49-B3BB-A3B7972D1202}"/>
              </a:ext>
            </a:extLst>
          </p:cNvPr>
          <p:cNvSpPr/>
          <p:nvPr/>
        </p:nvSpPr>
        <p:spPr>
          <a:xfrm>
            <a:off x="317500" y="3873500"/>
            <a:ext cx="2794000" cy="1016000"/>
          </a:xfrm>
          <a:prstGeom prst="rect">
            <a:avLst/>
          </a:prstGeom>
          <a:solidFill>
            <a:srgbClr val="1A2238"/>
          </a:solidFill>
          <a:ln w="12700" cap="flat" cmpd="sng" algn="ctr">
            <a:solidFill>
              <a:srgbClr val="1F77B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55DCD32-965F-4AE0-8367-5A1E572F1621}"/>
              </a:ext>
            </a:extLst>
          </p:cNvPr>
          <p:cNvSpPr txBox="1"/>
          <p:nvPr/>
        </p:nvSpPr>
        <p:spPr>
          <a:xfrm>
            <a:off x="381000" y="3937000"/>
            <a:ext cx="2667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100" b="1">
                <a:solidFill>
                  <a:srgbClr val="1F77B4"/>
                </a:solidFill>
              </a:rPr>
              <a:t>T₀ — Temperatura inicial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67C3E3A2-1717-4D2B-BFC0-F059B8E840AD}"/>
              </a:ext>
            </a:extLst>
          </p:cNvPr>
          <p:cNvSpPr txBox="1"/>
          <p:nvPr/>
        </p:nvSpPr>
        <p:spPr>
          <a:xfrm>
            <a:off x="381000" y="4165600"/>
            <a:ext cx="26670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100">
                <a:solidFill>
                  <a:srgbClr val="FFFFFF"/>
                </a:solidFill>
              </a:rPr>
              <a:t>T₀ muy baja = no explora.
Encima de ~20 la calidad
es estable.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AE6F5A26-A3F6-4296-B1F6-71F054F35420}"/>
              </a:ext>
            </a:extLst>
          </p:cNvPr>
          <p:cNvSpPr/>
          <p:nvPr/>
        </p:nvSpPr>
        <p:spPr>
          <a:xfrm>
            <a:off x="3175000" y="3873500"/>
            <a:ext cx="2794000" cy="1016000"/>
          </a:xfrm>
          <a:prstGeom prst="rect">
            <a:avLst/>
          </a:prstGeom>
          <a:solidFill>
            <a:srgbClr val="1A2238"/>
          </a:solidFill>
          <a:ln w="12700" cap="flat" cmpd="sng" algn="ctr">
            <a:solidFill>
              <a:srgbClr val="1F77B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0553B24-3061-452F-9455-8B8B13A7A8E8}"/>
              </a:ext>
            </a:extLst>
          </p:cNvPr>
          <p:cNvSpPr txBox="1"/>
          <p:nvPr/>
        </p:nvSpPr>
        <p:spPr>
          <a:xfrm>
            <a:off x="3238500" y="3937000"/>
            <a:ext cx="2667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l-GR" sz="1100" b="1">
                <a:solidFill>
                  <a:srgbClr val="1F77B4"/>
                </a:solidFill>
              </a:rPr>
              <a:t>α — </a:t>
            </a:r>
            <a:r>
              <a:rPr lang="es-MX" sz="1100" b="1">
                <a:solidFill>
                  <a:srgbClr val="1F77B4"/>
                </a:solidFill>
              </a:rPr>
              <a:t>Factor de enfriamiento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1C99255-C469-4B35-B04D-56B412991513}"/>
              </a:ext>
            </a:extLst>
          </p:cNvPr>
          <p:cNvSpPr txBox="1"/>
          <p:nvPr/>
        </p:nvSpPr>
        <p:spPr>
          <a:xfrm>
            <a:off x="3238500" y="4165600"/>
            <a:ext cx="26670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000">
                <a:solidFill>
                  <a:srgbClr val="FFFFFF"/>
                </a:solidFill>
              </a:rPr>
              <a:t>Cerca de 1 = enfriamiento
lento → mejor calidad
pero más tiempo.
Sweet spot: 0.99–0.995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3F1432AE-A7D6-4331-8C18-E78B7739D6F3}"/>
              </a:ext>
            </a:extLst>
          </p:cNvPr>
          <p:cNvSpPr/>
          <p:nvPr/>
        </p:nvSpPr>
        <p:spPr>
          <a:xfrm>
            <a:off x="6032500" y="3873500"/>
            <a:ext cx="2794000" cy="1016000"/>
          </a:xfrm>
          <a:prstGeom prst="rect">
            <a:avLst/>
          </a:prstGeom>
          <a:solidFill>
            <a:srgbClr val="1A2238"/>
          </a:solidFill>
          <a:ln w="12700" cap="flat" cmpd="sng" algn="ctr">
            <a:solidFill>
              <a:srgbClr val="1F77B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B56CC49-31F6-4DF8-8FA6-7E183A61DACA}"/>
              </a:ext>
            </a:extLst>
          </p:cNvPr>
          <p:cNvSpPr txBox="1"/>
          <p:nvPr/>
        </p:nvSpPr>
        <p:spPr>
          <a:xfrm>
            <a:off x="6096000" y="3937000"/>
            <a:ext cx="2667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100" b="1">
                <a:solidFill>
                  <a:srgbClr val="1F77B4"/>
                </a:solidFill>
              </a:rPr>
              <a:t>iter_por_T — Iteraciones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023399BA-954B-4F5C-BD9F-4C2A7A3B4A27}"/>
              </a:ext>
            </a:extLst>
          </p:cNvPr>
          <p:cNvSpPr txBox="1"/>
          <p:nvPr/>
        </p:nvSpPr>
        <p:spPr>
          <a:xfrm>
            <a:off x="6096000" y="4165600"/>
            <a:ext cx="26670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100">
                <a:solidFill>
                  <a:srgbClr val="FFFFFF"/>
                </a:solidFill>
              </a:rPr>
              <a:t>Subir el valor mejora
calidad, pero el costo
es lineal.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215E1182-9A1A-3393-5413-3DA6B0D3D7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00" y="635000"/>
            <a:ext cx="2794000" cy="304800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DCDF0FA3-403D-3C2D-2F24-0E62849E86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000" y="635000"/>
            <a:ext cx="2794000" cy="3048000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B854E6BD-A605-74C1-D532-7F907AAB16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2500" y="635000"/>
            <a:ext cx="2794000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3000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5A99E2C-666A-4A88-B060-2C3869AC4F11}"/>
              </a:ext>
            </a:extLst>
          </p:cNvPr>
          <p:cNvSpPr txBox="1"/>
          <p:nvPr/>
        </p:nvSpPr>
        <p:spPr>
          <a:xfrm>
            <a:off x="508000" y="381000"/>
            <a:ext cx="8128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2800" b="1">
                <a:solidFill>
                  <a:srgbClr val="030920"/>
                </a:solidFill>
              </a:rPr>
              <a:t>Valores recomendados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AFDAE4C-9FAE-4B0E-8A29-3A104B338A07}"/>
              </a:ext>
            </a:extLst>
          </p:cNvPr>
          <p:cNvSpPr txBox="1"/>
          <p:nvPr/>
        </p:nvSpPr>
        <p:spPr>
          <a:xfrm>
            <a:off x="508000" y="825500"/>
            <a:ext cx="812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300" i="1">
                <a:solidFill>
                  <a:srgbClr val="030920"/>
                </a:solidFill>
              </a:rPr>
              <a:t>Configuración de Simulated Annealing</a:t>
            </a:r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94C03598-4F2E-4DC7-8E2C-249B1110C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8090760"/>
              </p:ext>
            </p:extLst>
          </p:nvPr>
        </p:nvGraphicFramePr>
        <p:xfrm>
          <a:off x="508000" y="1333500"/>
          <a:ext cx="8128000" cy="2921000"/>
        </p:xfrm>
        <a:graphic>
          <a:graphicData uri="http://schemas.openxmlformats.org/drawingml/2006/table">
            <a:tbl>
              <a:tblPr firstRow="1" bandRow="1">
                <a:tableStyleId>{AE4A624E-C7F9-4CB7-A30D-41E38F5E4052}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368081642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4175811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8174867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8708488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algn="ctr"/>
                      <a:r>
                        <a:rPr lang="es-MX" sz="1400" b="1">
                          <a:solidFill>
                            <a:srgbClr val="FFFFFF"/>
                          </a:solidFill>
                        </a:rPr>
                        <a:t>Hiperparámetro</a:t>
                      </a:r>
                    </a:p>
                  </a:txBody>
                  <a:tcPr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b="1">
                          <a:solidFill>
                            <a:srgbClr val="FFFFFF"/>
                          </a:solidFill>
                        </a:rPr>
                        <a:t>Rango bajo</a:t>
                      </a:r>
                    </a:p>
                  </a:txBody>
                  <a:tcPr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b="1">
                          <a:solidFill>
                            <a:srgbClr val="FFFFFF"/>
                          </a:solidFill>
                        </a:rPr>
                        <a:t>Recomendado</a:t>
                      </a:r>
                    </a:p>
                  </a:txBody>
                  <a:tcPr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b="1">
                          <a:solidFill>
                            <a:srgbClr val="FFFFFF"/>
                          </a:solidFill>
                        </a:rPr>
                        <a:t>Rango alto</a:t>
                      </a:r>
                    </a:p>
                  </a:txBody>
                  <a:tcPr anchor="ctr">
                    <a:solidFill>
                      <a:srgbClr val="1F77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937570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es-MX" sz="1400">
                          <a:solidFill>
                            <a:srgbClr val="030920"/>
                          </a:solidFill>
                        </a:rPr>
                        <a:t>T₀  (temperatura inicial)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>
                          <a:solidFill>
                            <a:srgbClr val="030920"/>
                          </a:solidFill>
                        </a:rPr>
                        <a:t>1 –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b="1">
                          <a:solidFill>
                            <a:srgbClr val="030920"/>
                          </a:solidFill>
                        </a:rPr>
                        <a:t>50 – 100</a:t>
                      </a:r>
                    </a:p>
                  </a:txBody>
                  <a:tcPr anchor="ctr">
                    <a:solidFill>
                      <a:srgbClr val="DDE6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>
                          <a:solidFill>
                            <a:srgbClr val="030920"/>
                          </a:solidFill>
                        </a:rPr>
                        <a:t>500+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3524490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es-MX" sz="1400">
                          <a:solidFill>
                            <a:srgbClr val="030920"/>
                          </a:solidFill>
                        </a:rPr>
                        <a:t>α  (factor de enfriamiento)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>
                          <a:solidFill>
                            <a:srgbClr val="030920"/>
                          </a:solidFill>
                        </a:rPr>
                        <a:t>0.80 – 0.90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b="1">
                          <a:solidFill>
                            <a:srgbClr val="030920"/>
                          </a:solidFill>
                        </a:rPr>
                        <a:t>0.99 – 0.995</a:t>
                      </a:r>
                    </a:p>
                  </a:txBody>
                  <a:tcPr anchor="ctr">
                    <a:solidFill>
                      <a:srgbClr val="DDE6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>
                          <a:solidFill>
                            <a:srgbClr val="030920"/>
                          </a:solidFill>
                        </a:rPr>
                        <a:t>0.999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4227161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es-MX" sz="1400">
                          <a:solidFill>
                            <a:srgbClr val="030920"/>
                          </a:solidFill>
                        </a:rPr>
                        <a:t>iter_por_T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>
                          <a:solidFill>
                            <a:srgbClr val="030920"/>
                          </a:solidFill>
                        </a:rPr>
                        <a:t>1 –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b="1">
                          <a:solidFill>
                            <a:srgbClr val="030920"/>
                          </a:solidFill>
                        </a:rPr>
                        <a:t>15 – 25</a:t>
                      </a:r>
                    </a:p>
                  </a:txBody>
                  <a:tcPr anchor="ctr">
                    <a:solidFill>
                      <a:srgbClr val="DDE6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>
                          <a:solidFill>
                            <a:srgbClr val="030920"/>
                          </a:solidFill>
                        </a:rPr>
                        <a:t>50+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00545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es-MX" sz="1400">
                          <a:solidFill>
                            <a:srgbClr val="030920"/>
                          </a:solidFill>
                        </a:rPr>
                        <a:t>T_final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>
                          <a:solidFill>
                            <a:srgbClr val="0309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b="1">
                          <a:solidFill>
                            <a:srgbClr val="030920"/>
                          </a:solidFill>
                        </a:rPr>
                        <a:t>0.01 – 0.1</a:t>
                      </a:r>
                    </a:p>
                  </a:txBody>
                  <a:tcPr anchor="ctr">
                    <a:solidFill>
                      <a:srgbClr val="DDE6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>
                          <a:solidFill>
                            <a:srgbClr val="0309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1055002"/>
                  </a:ext>
                </a:extLst>
              </a:tr>
            </a:tbl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ADD682E1-B67D-4E45-99E0-D5FF37398051}"/>
              </a:ext>
            </a:extLst>
          </p:cNvPr>
          <p:cNvSpPr txBox="1"/>
          <p:nvPr/>
        </p:nvSpPr>
        <p:spPr>
          <a:xfrm>
            <a:off x="508000" y="4445000"/>
            <a:ext cx="812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100" i="1">
                <a:solidFill>
                  <a:srgbClr val="030920"/>
                </a:solidFill>
              </a:rPr>
              <a:t>La columna “Recomendado” es el sweet spot calidad/tiempo encontrado en nuestras pruebas</a:t>
            </a:r>
          </a:p>
        </p:txBody>
      </p:sp>
    </p:spTree>
    <p:extLst>
      <p:ext uri="{BB962C8B-B14F-4D97-AF65-F5344CB8AC3E}">
        <p14:creationId xmlns:p14="http://schemas.microsoft.com/office/powerpoint/2010/main" val="972193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C044850-5B77-4A55-8F14-2A97A29FA0F7}"/>
              </a:ext>
            </a:extLst>
          </p:cNvPr>
          <p:cNvSpPr txBox="1"/>
          <p:nvPr/>
        </p:nvSpPr>
        <p:spPr>
          <a:xfrm>
            <a:off x="508000" y="381000"/>
            <a:ext cx="8128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2800" b="1">
                <a:solidFill>
                  <a:srgbClr val="030920"/>
                </a:solidFill>
              </a:rPr>
              <a:t>Conclusiones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777EAACF-75F9-4E1C-B11F-006FADDD92A3}"/>
              </a:ext>
            </a:extLst>
          </p:cNvPr>
          <p:cNvSpPr/>
          <p:nvPr/>
        </p:nvSpPr>
        <p:spPr>
          <a:xfrm>
            <a:off x="508000" y="1206500"/>
            <a:ext cx="3937000" cy="1397000"/>
          </a:xfrm>
          <a:prstGeom prst="rect">
            <a:avLst/>
          </a:prstGeom>
          <a:solidFill>
            <a:srgbClr val="3A1A1A"/>
          </a:solidFill>
          <a:ln w="19050" cap="flat" cmpd="sng" algn="ctr">
            <a:solidFill>
              <a:srgbClr val="D627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00D66F4-D33E-47AD-A285-D157F8712EC8}"/>
              </a:ext>
            </a:extLst>
          </p:cNvPr>
          <p:cNvSpPr txBox="1"/>
          <p:nvPr/>
        </p:nvSpPr>
        <p:spPr>
          <a:xfrm>
            <a:off x="698500" y="1333500"/>
            <a:ext cx="355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600" b="1">
                <a:solidFill>
                  <a:srgbClr val="D62728"/>
                </a:solidFill>
              </a:rPr>
              <a:t>Hill Climbing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78241588-BE2E-4B78-9F8F-776AA57BB4CF}"/>
              </a:ext>
            </a:extLst>
          </p:cNvPr>
          <p:cNvSpPr txBox="1"/>
          <p:nvPr/>
        </p:nvSpPr>
        <p:spPr>
          <a:xfrm>
            <a:off x="698500" y="1714500"/>
            <a:ext cx="3556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300">
                <a:solidFill>
                  <a:srgbClr val="FFFFFF"/>
                </a:solidFill>
              </a:rPr>
              <a:t>Rápido y simple.
Útil para problemas pequeños o convexos.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F8870F6-1258-41E0-80FF-2A48518F222B}"/>
              </a:ext>
            </a:extLst>
          </p:cNvPr>
          <p:cNvSpPr/>
          <p:nvPr/>
        </p:nvSpPr>
        <p:spPr>
          <a:xfrm>
            <a:off x="4699000" y="1206500"/>
            <a:ext cx="3937000" cy="1397000"/>
          </a:xfrm>
          <a:prstGeom prst="rect">
            <a:avLst/>
          </a:prstGeom>
          <a:solidFill>
            <a:srgbClr val="0F2540"/>
          </a:solidFill>
          <a:ln w="19050" cap="flat" cmpd="sng" algn="ctr">
            <a:solidFill>
              <a:srgbClr val="1F77B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E18D225-78CD-487F-9298-3DD55288C8EA}"/>
              </a:ext>
            </a:extLst>
          </p:cNvPr>
          <p:cNvSpPr txBox="1"/>
          <p:nvPr/>
        </p:nvSpPr>
        <p:spPr>
          <a:xfrm>
            <a:off x="4889500" y="1333500"/>
            <a:ext cx="355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600" b="1">
                <a:solidFill>
                  <a:srgbClr val="1F77B4"/>
                </a:solidFill>
              </a:rPr>
              <a:t>Simulated Annealing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774136C-8E79-490A-8E11-6CEE742B43E3}"/>
              </a:ext>
            </a:extLst>
          </p:cNvPr>
          <p:cNvSpPr txBox="1"/>
          <p:nvPr/>
        </p:nvSpPr>
        <p:spPr>
          <a:xfrm>
            <a:off x="4889500" y="1714500"/>
            <a:ext cx="3556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300">
                <a:solidFill>
                  <a:srgbClr val="FFFFFF"/>
                </a:solidFill>
              </a:rPr>
              <a:t>Más lento, pero mejor calidad.
Escala mejor con n grande.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330661E-393B-4442-B63A-A85B8D7D7A0F}"/>
              </a:ext>
            </a:extLst>
          </p:cNvPr>
          <p:cNvSpPr/>
          <p:nvPr/>
        </p:nvSpPr>
        <p:spPr>
          <a:xfrm>
            <a:off x="508000" y="2794000"/>
            <a:ext cx="8128000" cy="508000"/>
          </a:xfrm>
          <a:prstGeom prst="rect">
            <a:avLst/>
          </a:prstGeom>
          <a:solidFill>
            <a:srgbClr val="1A223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F46CB41-270E-48C2-B4E2-762961DA0DE7}"/>
              </a:ext>
            </a:extLst>
          </p:cNvPr>
          <p:cNvSpPr txBox="1"/>
          <p:nvPr/>
        </p:nvSpPr>
        <p:spPr>
          <a:xfrm>
            <a:off x="698500" y="2794000"/>
            <a:ext cx="7874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MX" b="1" dirty="0">
                <a:solidFill>
                  <a:srgbClr val="FFFFFF"/>
                </a:solidFill>
              </a:rPr>
              <a:t>◆  Los </a:t>
            </a:r>
            <a:r>
              <a:rPr lang="es-MX" b="1" dirty="0" err="1">
                <a:solidFill>
                  <a:srgbClr val="FFFFFF"/>
                </a:solidFill>
              </a:rPr>
              <a:t>hiperparámetros</a:t>
            </a:r>
            <a:r>
              <a:rPr lang="es-MX" b="1" dirty="0">
                <a:solidFill>
                  <a:srgbClr val="FFFFFF"/>
                </a:solidFill>
              </a:rPr>
              <a:t> importan: α es el más sensible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1AB54A2-AAC5-4578-900D-E81737ADA3CA}"/>
              </a:ext>
            </a:extLst>
          </p:cNvPr>
          <p:cNvSpPr/>
          <p:nvPr/>
        </p:nvSpPr>
        <p:spPr>
          <a:xfrm>
            <a:off x="508000" y="3403600"/>
            <a:ext cx="8128000" cy="508000"/>
          </a:xfrm>
          <a:prstGeom prst="rect">
            <a:avLst/>
          </a:prstGeom>
          <a:solidFill>
            <a:srgbClr val="1A223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CA34ED34-E84C-46D3-9DEB-0C0A9EB68695}"/>
              </a:ext>
            </a:extLst>
          </p:cNvPr>
          <p:cNvSpPr txBox="1"/>
          <p:nvPr/>
        </p:nvSpPr>
        <p:spPr>
          <a:xfrm>
            <a:off x="698500" y="3403600"/>
            <a:ext cx="7874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MX" b="1">
                <a:solidFill>
                  <a:srgbClr val="FFFFFF"/>
                </a:solidFill>
              </a:rPr>
              <a:t>◆  En problemas combinatorios grandes (TSP n ≥ 30), SA es la mejor opción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0CA27114-77A5-4668-824A-B82095615F0D}"/>
              </a:ext>
            </a:extLst>
          </p:cNvPr>
          <p:cNvSpPr/>
          <p:nvPr/>
        </p:nvSpPr>
        <p:spPr>
          <a:xfrm>
            <a:off x="508000" y="4013200"/>
            <a:ext cx="8128000" cy="508000"/>
          </a:xfrm>
          <a:prstGeom prst="rect">
            <a:avLst/>
          </a:prstGeom>
          <a:solidFill>
            <a:srgbClr val="2A3250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790F5A5-5581-4135-BD7F-2FFCB7669857}"/>
              </a:ext>
            </a:extLst>
          </p:cNvPr>
          <p:cNvSpPr txBox="1"/>
          <p:nvPr/>
        </p:nvSpPr>
        <p:spPr>
          <a:xfrm>
            <a:off x="698500" y="4013200"/>
            <a:ext cx="7874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MX" b="1">
                <a:solidFill>
                  <a:srgbClr val="FFFFFF"/>
                </a:solidFill>
              </a:rPr>
              <a:t>◆  Trade-off claro:  calidad  vs  tiempo</a:t>
            </a:r>
          </a:p>
        </p:txBody>
      </p:sp>
    </p:spTree>
    <p:extLst>
      <p:ext uri="{BB962C8B-B14F-4D97-AF65-F5344CB8AC3E}">
        <p14:creationId xmlns:p14="http://schemas.microsoft.com/office/powerpoint/2010/main" val="10428112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49"/>
          <p:cNvSpPr/>
          <p:nvPr/>
        </p:nvSpPr>
        <p:spPr>
          <a:xfrm>
            <a:off x="3411137" y="2935076"/>
            <a:ext cx="598800" cy="598800"/>
          </a:xfrm>
          <a:prstGeom prst="roundRect">
            <a:avLst>
              <a:gd name="adj" fmla="val 24522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katab"/>
              <a:ea typeface="Akatab"/>
              <a:cs typeface="Akatab"/>
              <a:sym typeface="Akatab"/>
            </a:endParaRPr>
          </a:p>
        </p:txBody>
      </p:sp>
      <p:sp>
        <p:nvSpPr>
          <p:cNvPr id="562" name="Google Shape;562;p49"/>
          <p:cNvSpPr/>
          <p:nvPr/>
        </p:nvSpPr>
        <p:spPr>
          <a:xfrm>
            <a:off x="5140987" y="2935076"/>
            <a:ext cx="598800" cy="598800"/>
          </a:xfrm>
          <a:prstGeom prst="roundRect">
            <a:avLst>
              <a:gd name="adj" fmla="val 24522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katab"/>
              <a:ea typeface="Akatab"/>
              <a:cs typeface="Akatab"/>
              <a:sym typeface="Akatab"/>
            </a:endParaRPr>
          </a:p>
        </p:txBody>
      </p:sp>
      <p:sp>
        <p:nvSpPr>
          <p:cNvPr id="563" name="Google Shape;563;p49"/>
          <p:cNvSpPr/>
          <p:nvPr/>
        </p:nvSpPr>
        <p:spPr>
          <a:xfrm>
            <a:off x="4276062" y="2935038"/>
            <a:ext cx="598800" cy="598800"/>
          </a:xfrm>
          <a:prstGeom prst="roundRect">
            <a:avLst>
              <a:gd name="adj" fmla="val 24522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katab"/>
              <a:ea typeface="Akatab"/>
              <a:cs typeface="Akatab"/>
              <a:sym typeface="Akatab"/>
            </a:endParaRPr>
          </a:p>
        </p:txBody>
      </p:sp>
      <p:sp>
        <p:nvSpPr>
          <p:cNvPr id="564" name="Google Shape;564;p49"/>
          <p:cNvSpPr txBox="1">
            <a:spLocks noGrp="1"/>
          </p:cNvSpPr>
          <p:nvPr>
            <p:ph type="title"/>
          </p:nvPr>
        </p:nvSpPr>
        <p:spPr>
          <a:xfrm>
            <a:off x="2347938" y="714075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b="1"/>
              <a:t>¡Gracias!</a:t>
            </a:r>
          </a:p>
        </p:txBody>
      </p:sp>
      <p:sp>
        <p:nvSpPr>
          <p:cNvPr id="565" name="Google Shape;565;p49"/>
          <p:cNvSpPr txBox="1">
            <a:spLocks noGrp="1"/>
          </p:cNvSpPr>
          <p:nvPr>
            <p:ph type="subTitle" idx="1"/>
          </p:nvPr>
        </p:nvSpPr>
        <p:spPr>
          <a:xfrm>
            <a:off x="2347900" y="1683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b="1" dirty="0"/>
              <a:t>¿Preguntas?</a:t>
            </a:r>
          </a:p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s-MX" sz="1400" dirty="0"/>
              <a:t>Patrick Ramirez</a:t>
            </a:r>
          </a:p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s-MX" dirty="0"/>
              <a:t>Rodrigo Ancori</a:t>
            </a:r>
          </a:p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s-MX" sz="1200" i="1" dirty="0"/>
              <a:t>Inteligencia Artificial · Algoritmos de Búsqueda</a:t>
            </a:r>
          </a:p>
        </p:txBody>
      </p:sp>
      <p:grpSp>
        <p:nvGrpSpPr>
          <p:cNvPr id="566" name="Google Shape;566;p49"/>
          <p:cNvGrpSpPr/>
          <p:nvPr/>
        </p:nvGrpSpPr>
        <p:grpSpPr>
          <a:xfrm>
            <a:off x="3572524" y="3096473"/>
            <a:ext cx="276012" cy="275991"/>
            <a:chOff x="3368074" y="3882537"/>
            <a:chExt cx="215298" cy="215298"/>
          </a:xfrm>
        </p:grpSpPr>
        <p:sp>
          <p:nvSpPr>
            <p:cNvPr id="567" name="Google Shape;567;p49"/>
            <p:cNvSpPr/>
            <p:nvPr/>
          </p:nvSpPr>
          <p:spPr>
            <a:xfrm>
              <a:off x="3368074" y="3882537"/>
              <a:ext cx="215298" cy="215298"/>
            </a:xfrm>
            <a:custGeom>
              <a:avLst/>
              <a:gdLst/>
              <a:ahLst/>
              <a:cxnLst/>
              <a:rect l="l" t="t" r="r" b="b"/>
              <a:pathLst>
                <a:path w="6764" h="6764" extrusionOk="0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49"/>
            <p:cNvSpPr/>
            <p:nvPr/>
          </p:nvSpPr>
          <p:spPr>
            <a:xfrm>
              <a:off x="3418143" y="3933656"/>
              <a:ext cx="114811" cy="112742"/>
            </a:xfrm>
            <a:custGeom>
              <a:avLst/>
              <a:gdLst/>
              <a:ahLst/>
              <a:cxnLst/>
              <a:rect l="l" t="t" r="r" b="b"/>
              <a:pathLst>
                <a:path w="3607" h="3542" extrusionOk="0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49"/>
            <p:cNvSpPr/>
            <p:nvPr/>
          </p:nvSpPr>
          <p:spPr>
            <a:xfrm>
              <a:off x="3519298" y="3910197"/>
              <a:ext cx="29570" cy="29220"/>
            </a:xfrm>
            <a:custGeom>
              <a:avLst/>
              <a:gdLst/>
              <a:ahLst/>
              <a:cxnLst/>
              <a:rect l="l" t="t" r="r" b="b"/>
              <a:pathLst>
                <a:path w="929" h="918" extrusionOk="0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0" name="Google Shape;570;p49"/>
          <p:cNvGrpSpPr/>
          <p:nvPr/>
        </p:nvGrpSpPr>
        <p:grpSpPr>
          <a:xfrm>
            <a:off x="4438556" y="3115181"/>
            <a:ext cx="266790" cy="238574"/>
            <a:chOff x="3824739" y="3890112"/>
            <a:chExt cx="208105" cy="186110"/>
          </a:xfrm>
        </p:grpSpPr>
        <p:sp>
          <p:nvSpPr>
            <p:cNvPr id="571" name="Google Shape;571;p49"/>
            <p:cNvSpPr/>
            <p:nvPr/>
          </p:nvSpPr>
          <p:spPr>
            <a:xfrm>
              <a:off x="3831933" y="3955682"/>
              <a:ext cx="47809" cy="120540"/>
            </a:xfrm>
            <a:custGeom>
              <a:avLst/>
              <a:gdLst/>
              <a:ahLst/>
              <a:cxnLst/>
              <a:rect l="l" t="t" r="r" b="b"/>
              <a:pathLst>
                <a:path w="1502" h="3787" extrusionOk="0">
                  <a:moveTo>
                    <a:pt x="1168" y="346"/>
                  </a:moveTo>
                  <a:lnTo>
                    <a:pt x="1168" y="3430"/>
                  </a:lnTo>
                  <a:lnTo>
                    <a:pt x="358" y="3430"/>
                  </a:lnTo>
                  <a:lnTo>
                    <a:pt x="358" y="346"/>
                  </a:lnTo>
                  <a:close/>
                  <a:moveTo>
                    <a:pt x="180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72" y="3787"/>
                    <a:pt x="180" y="3787"/>
                  </a:cubicBezTo>
                  <a:lnTo>
                    <a:pt x="1323" y="3787"/>
                  </a:lnTo>
                  <a:cubicBezTo>
                    <a:pt x="1418" y="3787"/>
                    <a:pt x="1501" y="3715"/>
                    <a:pt x="1501" y="3608"/>
                  </a:cubicBezTo>
                  <a:lnTo>
                    <a:pt x="1501" y="179"/>
                  </a:lnTo>
                  <a:cubicBezTo>
                    <a:pt x="1501" y="72"/>
                    <a:pt x="1430" y="1"/>
                    <a:pt x="132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49"/>
            <p:cNvSpPr/>
            <p:nvPr/>
          </p:nvSpPr>
          <p:spPr>
            <a:xfrm>
              <a:off x="3824739" y="3890112"/>
              <a:ext cx="55002" cy="55002"/>
            </a:xfrm>
            <a:custGeom>
              <a:avLst/>
              <a:gdLst/>
              <a:ahLst/>
              <a:cxnLst/>
              <a:rect l="l" t="t" r="r" b="b"/>
              <a:pathLst>
                <a:path w="1728" h="1728" extrusionOk="0">
                  <a:moveTo>
                    <a:pt x="870" y="334"/>
                  </a:moveTo>
                  <a:cubicBezTo>
                    <a:pt x="1156" y="334"/>
                    <a:pt x="1394" y="572"/>
                    <a:pt x="1394" y="846"/>
                  </a:cubicBezTo>
                  <a:cubicBezTo>
                    <a:pt x="1394" y="1132"/>
                    <a:pt x="1156" y="1370"/>
                    <a:pt x="870" y="1370"/>
                  </a:cubicBezTo>
                  <a:cubicBezTo>
                    <a:pt x="584" y="1370"/>
                    <a:pt x="346" y="1132"/>
                    <a:pt x="346" y="846"/>
                  </a:cubicBezTo>
                  <a:cubicBezTo>
                    <a:pt x="346" y="572"/>
                    <a:pt x="584" y="334"/>
                    <a:pt x="870" y="334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49"/>
            <p:cNvSpPr/>
            <p:nvPr/>
          </p:nvSpPr>
          <p:spPr>
            <a:xfrm>
              <a:off x="3904696" y="3955682"/>
              <a:ext cx="128148" cy="120540"/>
            </a:xfrm>
            <a:custGeom>
              <a:avLst/>
              <a:gdLst/>
              <a:ahLst/>
              <a:cxnLst/>
              <a:rect l="l" t="t" r="r" b="b"/>
              <a:pathLst>
                <a:path w="4026" h="3787" extrusionOk="0">
                  <a:moveTo>
                    <a:pt x="191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84" y="3787"/>
                    <a:pt x="191" y="3787"/>
                  </a:cubicBezTo>
                  <a:lnTo>
                    <a:pt x="1334" y="3787"/>
                  </a:lnTo>
                  <a:cubicBezTo>
                    <a:pt x="1418" y="3787"/>
                    <a:pt x="1513" y="3715"/>
                    <a:pt x="1513" y="3608"/>
                  </a:cubicBezTo>
                  <a:lnTo>
                    <a:pt x="1513" y="2382"/>
                  </a:lnTo>
                  <a:cubicBezTo>
                    <a:pt x="1513" y="1977"/>
                    <a:pt x="1596" y="1501"/>
                    <a:pt x="2037" y="1501"/>
                  </a:cubicBezTo>
                  <a:cubicBezTo>
                    <a:pt x="2347" y="1501"/>
                    <a:pt x="2477" y="1763"/>
                    <a:pt x="2525" y="2060"/>
                  </a:cubicBezTo>
                  <a:cubicBezTo>
                    <a:pt x="2537" y="2156"/>
                    <a:pt x="2608" y="2215"/>
                    <a:pt x="2692" y="2215"/>
                  </a:cubicBezTo>
                  <a:cubicBezTo>
                    <a:pt x="2787" y="2215"/>
                    <a:pt x="2870" y="2120"/>
                    <a:pt x="2847" y="2025"/>
                  </a:cubicBezTo>
                  <a:cubicBezTo>
                    <a:pt x="2763" y="1465"/>
                    <a:pt x="2477" y="1155"/>
                    <a:pt x="2013" y="1155"/>
                  </a:cubicBezTo>
                  <a:cubicBezTo>
                    <a:pt x="1465" y="1155"/>
                    <a:pt x="1156" y="1608"/>
                    <a:pt x="1156" y="2382"/>
                  </a:cubicBezTo>
                  <a:lnTo>
                    <a:pt x="1156" y="3430"/>
                  </a:lnTo>
                  <a:lnTo>
                    <a:pt x="346" y="3430"/>
                  </a:lnTo>
                  <a:lnTo>
                    <a:pt x="346" y="358"/>
                  </a:lnTo>
                  <a:lnTo>
                    <a:pt x="918" y="358"/>
                  </a:lnTo>
                  <a:lnTo>
                    <a:pt x="918" y="572"/>
                  </a:lnTo>
                  <a:cubicBezTo>
                    <a:pt x="918" y="632"/>
                    <a:pt x="930" y="679"/>
                    <a:pt x="977" y="715"/>
                  </a:cubicBezTo>
                  <a:cubicBezTo>
                    <a:pt x="1007" y="733"/>
                    <a:pt x="1043" y="742"/>
                    <a:pt x="1078" y="742"/>
                  </a:cubicBezTo>
                  <a:cubicBezTo>
                    <a:pt x="1114" y="742"/>
                    <a:pt x="1150" y="733"/>
                    <a:pt x="1180" y="715"/>
                  </a:cubicBezTo>
                  <a:cubicBezTo>
                    <a:pt x="1477" y="477"/>
                    <a:pt x="1835" y="358"/>
                    <a:pt x="2227" y="358"/>
                  </a:cubicBezTo>
                  <a:cubicBezTo>
                    <a:pt x="3204" y="358"/>
                    <a:pt x="3656" y="1191"/>
                    <a:pt x="3656" y="2001"/>
                  </a:cubicBezTo>
                  <a:lnTo>
                    <a:pt x="3656" y="3430"/>
                  </a:lnTo>
                  <a:lnTo>
                    <a:pt x="2847" y="3430"/>
                  </a:lnTo>
                  <a:lnTo>
                    <a:pt x="2847" y="2870"/>
                  </a:lnTo>
                  <a:cubicBezTo>
                    <a:pt x="2847" y="2775"/>
                    <a:pt x="2775" y="2703"/>
                    <a:pt x="2692" y="2703"/>
                  </a:cubicBezTo>
                  <a:cubicBezTo>
                    <a:pt x="2597" y="2703"/>
                    <a:pt x="2525" y="2775"/>
                    <a:pt x="2525" y="2870"/>
                  </a:cubicBezTo>
                  <a:lnTo>
                    <a:pt x="2525" y="3596"/>
                  </a:lnTo>
                  <a:cubicBezTo>
                    <a:pt x="2525" y="3691"/>
                    <a:pt x="2597" y="3775"/>
                    <a:pt x="2704" y="3775"/>
                  </a:cubicBezTo>
                  <a:lnTo>
                    <a:pt x="3847" y="3775"/>
                  </a:lnTo>
                  <a:cubicBezTo>
                    <a:pt x="3942" y="3775"/>
                    <a:pt x="4025" y="3703"/>
                    <a:pt x="4025" y="3596"/>
                  </a:cubicBezTo>
                  <a:lnTo>
                    <a:pt x="4025" y="1989"/>
                  </a:lnTo>
                  <a:cubicBezTo>
                    <a:pt x="4025" y="810"/>
                    <a:pt x="3299" y="1"/>
                    <a:pt x="2239" y="1"/>
                  </a:cubicBezTo>
                  <a:cubicBezTo>
                    <a:pt x="1894" y="1"/>
                    <a:pt x="1573" y="84"/>
                    <a:pt x="1275" y="251"/>
                  </a:cubicBezTo>
                  <a:lnTo>
                    <a:pt x="1275" y="179"/>
                  </a:lnTo>
                  <a:cubicBezTo>
                    <a:pt x="1275" y="84"/>
                    <a:pt x="1204" y="1"/>
                    <a:pt x="109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74" name="Google Shape;574;p49"/>
          <p:cNvSpPr/>
          <p:nvPr/>
        </p:nvSpPr>
        <p:spPr>
          <a:xfrm>
            <a:off x="5302440" y="3115420"/>
            <a:ext cx="291511" cy="238097"/>
          </a:xfrm>
          <a:custGeom>
            <a:avLst/>
            <a:gdLst/>
            <a:ahLst/>
            <a:cxnLst/>
            <a:rect l="l" t="t" r="r" b="b"/>
            <a:pathLst>
              <a:path w="7144" h="5835" extrusionOk="0">
                <a:moveTo>
                  <a:pt x="4620" y="0"/>
                </a:moveTo>
                <a:cubicBezTo>
                  <a:pt x="3727" y="0"/>
                  <a:pt x="2977" y="691"/>
                  <a:pt x="2905" y="1572"/>
                </a:cubicBezTo>
                <a:cubicBezTo>
                  <a:pt x="2727" y="1548"/>
                  <a:pt x="2358" y="1441"/>
                  <a:pt x="2262" y="1405"/>
                </a:cubicBezTo>
                <a:cubicBezTo>
                  <a:pt x="1643" y="1203"/>
                  <a:pt x="1072" y="810"/>
                  <a:pt x="631" y="322"/>
                </a:cubicBezTo>
                <a:cubicBezTo>
                  <a:pt x="596" y="298"/>
                  <a:pt x="572" y="274"/>
                  <a:pt x="524" y="262"/>
                </a:cubicBezTo>
                <a:cubicBezTo>
                  <a:pt x="517" y="261"/>
                  <a:pt x="509" y="260"/>
                  <a:pt x="501" y="260"/>
                </a:cubicBezTo>
                <a:cubicBezTo>
                  <a:pt x="436" y="260"/>
                  <a:pt x="367" y="304"/>
                  <a:pt x="346" y="357"/>
                </a:cubicBezTo>
                <a:cubicBezTo>
                  <a:pt x="238" y="572"/>
                  <a:pt x="179" y="810"/>
                  <a:pt x="179" y="1048"/>
                </a:cubicBezTo>
                <a:cubicBezTo>
                  <a:pt x="179" y="1393"/>
                  <a:pt x="286" y="1727"/>
                  <a:pt x="476" y="1977"/>
                </a:cubicBezTo>
                <a:cubicBezTo>
                  <a:pt x="466" y="1975"/>
                  <a:pt x="456" y="1974"/>
                  <a:pt x="446" y="1974"/>
                </a:cubicBezTo>
                <a:cubicBezTo>
                  <a:pt x="397" y="1974"/>
                  <a:pt x="349" y="1997"/>
                  <a:pt x="310" y="2036"/>
                </a:cubicBezTo>
                <a:cubicBezTo>
                  <a:pt x="286" y="2060"/>
                  <a:pt x="286" y="2108"/>
                  <a:pt x="274" y="2143"/>
                </a:cubicBezTo>
                <a:lnTo>
                  <a:pt x="274" y="2203"/>
                </a:lnTo>
                <a:cubicBezTo>
                  <a:pt x="274" y="2655"/>
                  <a:pt x="476" y="3072"/>
                  <a:pt x="822" y="3358"/>
                </a:cubicBezTo>
                <a:cubicBezTo>
                  <a:pt x="786" y="3370"/>
                  <a:pt x="774" y="3405"/>
                  <a:pt x="762" y="3417"/>
                </a:cubicBezTo>
                <a:cubicBezTo>
                  <a:pt x="750" y="3465"/>
                  <a:pt x="727" y="3513"/>
                  <a:pt x="750" y="3548"/>
                </a:cubicBezTo>
                <a:cubicBezTo>
                  <a:pt x="893" y="4024"/>
                  <a:pt x="1262" y="4405"/>
                  <a:pt x="1727" y="4548"/>
                </a:cubicBezTo>
                <a:cubicBezTo>
                  <a:pt x="1310" y="4798"/>
                  <a:pt x="834" y="4941"/>
                  <a:pt x="334" y="4941"/>
                </a:cubicBezTo>
                <a:lnTo>
                  <a:pt x="191" y="4941"/>
                </a:lnTo>
                <a:cubicBezTo>
                  <a:pt x="107" y="4941"/>
                  <a:pt x="36" y="5001"/>
                  <a:pt x="12" y="5084"/>
                </a:cubicBezTo>
                <a:cubicBezTo>
                  <a:pt x="0" y="5156"/>
                  <a:pt x="48" y="5239"/>
                  <a:pt x="107" y="5263"/>
                </a:cubicBezTo>
                <a:cubicBezTo>
                  <a:pt x="727" y="5632"/>
                  <a:pt x="1465" y="5834"/>
                  <a:pt x="2191" y="5834"/>
                </a:cubicBezTo>
                <a:cubicBezTo>
                  <a:pt x="3072" y="5834"/>
                  <a:pt x="3905" y="5560"/>
                  <a:pt x="4596" y="5060"/>
                </a:cubicBezTo>
                <a:cubicBezTo>
                  <a:pt x="4691" y="5001"/>
                  <a:pt x="4691" y="4858"/>
                  <a:pt x="4620" y="4786"/>
                </a:cubicBezTo>
                <a:cubicBezTo>
                  <a:pt x="4587" y="4754"/>
                  <a:pt x="4544" y="4735"/>
                  <a:pt x="4499" y="4735"/>
                </a:cubicBezTo>
                <a:cubicBezTo>
                  <a:pt x="4463" y="4735"/>
                  <a:pt x="4426" y="4748"/>
                  <a:pt x="4394" y="4775"/>
                </a:cubicBezTo>
                <a:cubicBezTo>
                  <a:pt x="3763" y="5215"/>
                  <a:pt x="3013" y="5489"/>
                  <a:pt x="2191" y="5489"/>
                </a:cubicBezTo>
                <a:cubicBezTo>
                  <a:pt x="1727" y="5489"/>
                  <a:pt x="1262" y="5394"/>
                  <a:pt x="846" y="5239"/>
                </a:cubicBezTo>
                <a:cubicBezTo>
                  <a:pt x="1369" y="5144"/>
                  <a:pt x="1846" y="4917"/>
                  <a:pt x="2262" y="4584"/>
                </a:cubicBezTo>
                <a:cubicBezTo>
                  <a:pt x="2310" y="4536"/>
                  <a:pt x="2334" y="4477"/>
                  <a:pt x="2322" y="4417"/>
                </a:cubicBezTo>
                <a:cubicBezTo>
                  <a:pt x="2310" y="4346"/>
                  <a:pt x="2239" y="4286"/>
                  <a:pt x="2155" y="4286"/>
                </a:cubicBezTo>
                <a:cubicBezTo>
                  <a:pt x="1739" y="4263"/>
                  <a:pt x="1369" y="4048"/>
                  <a:pt x="1167" y="3691"/>
                </a:cubicBezTo>
                <a:cubicBezTo>
                  <a:pt x="1250" y="3691"/>
                  <a:pt x="1358" y="3667"/>
                  <a:pt x="1441" y="3643"/>
                </a:cubicBezTo>
                <a:cubicBezTo>
                  <a:pt x="1524" y="3632"/>
                  <a:pt x="1584" y="3572"/>
                  <a:pt x="1584" y="3489"/>
                </a:cubicBezTo>
                <a:cubicBezTo>
                  <a:pt x="1596" y="3405"/>
                  <a:pt x="1536" y="3334"/>
                  <a:pt x="1441" y="3298"/>
                </a:cubicBezTo>
                <a:cubicBezTo>
                  <a:pt x="1000" y="3191"/>
                  <a:pt x="667" y="2822"/>
                  <a:pt x="596" y="2381"/>
                </a:cubicBezTo>
                <a:lnTo>
                  <a:pt x="596" y="2381"/>
                </a:lnTo>
                <a:cubicBezTo>
                  <a:pt x="727" y="2405"/>
                  <a:pt x="869" y="2417"/>
                  <a:pt x="1000" y="2417"/>
                </a:cubicBezTo>
                <a:cubicBezTo>
                  <a:pt x="1084" y="2417"/>
                  <a:pt x="1143" y="2358"/>
                  <a:pt x="1167" y="2274"/>
                </a:cubicBezTo>
                <a:cubicBezTo>
                  <a:pt x="1179" y="2203"/>
                  <a:pt x="1131" y="2143"/>
                  <a:pt x="1072" y="2108"/>
                </a:cubicBezTo>
                <a:cubicBezTo>
                  <a:pt x="703" y="1881"/>
                  <a:pt x="476" y="1488"/>
                  <a:pt x="476" y="1048"/>
                </a:cubicBezTo>
                <a:cubicBezTo>
                  <a:pt x="476" y="953"/>
                  <a:pt x="488" y="846"/>
                  <a:pt x="524" y="738"/>
                </a:cubicBezTo>
                <a:cubicBezTo>
                  <a:pt x="965" y="1191"/>
                  <a:pt x="1524" y="1524"/>
                  <a:pt x="2120" y="1727"/>
                </a:cubicBezTo>
                <a:cubicBezTo>
                  <a:pt x="2120" y="1727"/>
                  <a:pt x="2715" y="1905"/>
                  <a:pt x="2929" y="1917"/>
                </a:cubicBezTo>
                <a:lnTo>
                  <a:pt x="3024" y="1917"/>
                </a:lnTo>
                <a:cubicBezTo>
                  <a:pt x="3096" y="1917"/>
                  <a:pt x="3167" y="1869"/>
                  <a:pt x="3191" y="1798"/>
                </a:cubicBezTo>
                <a:cubicBezTo>
                  <a:pt x="3203" y="1786"/>
                  <a:pt x="3203" y="1750"/>
                  <a:pt x="3203" y="1738"/>
                </a:cubicBezTo>
                <a:lnTo>
                  <a:pt x="3203" y="1703"/>
                </a:lnTo>
                <a:cubicBezTo>
                  <a:pt x="3203" y="953"/>
                  <a:pt x="3810" y="334"/>
                  <a:pt x="4572" y="334"/>
                </a:cubicBezTo>
                <a:cubicBezTo>
                  <a:pt x="4941" y="334"/>
                  <a:pt x="5287" y="488"/>
                  <a:pt x="5549" y="750"/>
                </a:cubicBezTo>
                <a:cubicBezTo>
                  <a:pt x="5585" y="787"/>
                  <a:pt x="5621" y="802"/>
                  <a:pt x="5663" y="802"/>
                </a:cubicBezTo>
                <a:cubicBezTo>
                  <a:pt x="5676" y="802"/>
                  <a:pt x="5689" y="801"/>
                  <a:pt x="5703" y="798"/>
                </a:cubicBezTo>
                <a:cubicBezTo>
                  <a:pt x="5882" y="762"/>
                  <a:pt x="6049" y="738"/>
                  <a:pt x="6203" y="679"/>
                </a:cubicBezTo>
                <a:lnTo>
                  <a:pt x="6203" y="679"/>
                </a:lnTo>
                <a:cubicBezTo>
                  <a:pt x="6120" y="762"/>
                  <a:pt x="6013" y="857"/>
                  <a:pt x="5894" y="917"/>
                </a:cubicBezTo>
                <a:cubicBezTo>
                  <a:pt x="5822" y="965"/>
                  <a:pt x="5787" y="1048"/>
                  <a:pt x="5822" y="1143"/>
                </a:cubicBezTo>
                <a:cubicBezTo>
                  <a:pt x="5846" y="1203"/>
                  <a:pt x="5930" y="1250"/>
                  <a:pt x="6001" y="1250"/>
                </a:cubicBezTo>
                <a:cubicBezTo>
                  <a:pt x="6144" y="1227"/>
                  <a:pt x="6287" y="1215"/>
                  <a:pt x="6418" y="1167"/>
                </a:cubicBezTo>
                <a:lnTo>
                  <a:pt x="6418" y="1167"/>
                </a:lnTo>
                <a:cubicBezTo>
                  <a:pt x="6299" y="1286"/>
                  <a:pt x="6168" y="1405"/>
                  <a:pt x="6013" y="1512"/>
                </a:cubicBezTo>
                <a:cubicBezTo>
                  <a:pt x="5965" y="1548"/>
                  <a:pt x="5941" y="1608"/>
                  <a:pt x="5941" y="1655"/>
                </a:cubicBezTo>
                <a:lnTo>
                  <a:pt x="5941" y="1679"/>
                </a:lnTo>
                <a:lnTo>
                  <a:pt x="5941" y="1703"/>
                </a:lnTo>
                <a:lnTo>
                  <a:pt x="5941" y="1727"/>
                </a:lnTo>
                <a:cubicBezTo>
                  <a:pt x="5941" y="2691"/>
                  <a:pt x="5572" y="3572"/>
                  <a:pt x="4977" y="4227"/>
                </a:cubicBezTo>
                <a:cubicBezTo>
                  <a:pt x="4918" y="4298"/>
                  <a:pt x="4918" y="4405"/>
                  <a:pt x="4977" y="4465"/>
                </a:cubicBezTo>
                <a:cubicBezTo>
                  <a:pt x="5011" y="4499"/>
                  <a:pt x="5053" y="4514"/>
                  <a:pt x="5096" y="4514"/>
                </a:cubicBezTo>
                <a:cubicBezTo>
                  <a:pt x="5143" y="4514"/>
                  <a:pt x="5190" y="4496"/>
                  <a:pt x="5227" y="4465"/>
                </a:cubicBezTo>
                <a:cubicBezTo>
                  <a:pt x="5894" y="3715"/>
                  <a:pt x="6263" y="2762"/>
                  <a:pt x="6287" y="1750"/>
                </a:cubicBezTo>
                <a:cubicBezTo>
                  <a:pt x="6596" y="1524"/>
                  <a:pt x="6846" y="1250"/>
                  <a:pt x="7061" y="917"/>
                </a:cubicBezTo>
                <a:cubicBezTo>
                  <a:pt x="7144" y="857"/>
                  <a:pt x="7132" y="750"/>
                  <a:pt x="7061" y="715"/>
                </a:cubicBezTo>
                <a:cubicBezTo>
                  <a:pt x="7029" y="683"/>
                  <a:pt x="6987" y="667"/>
                  <a:pt x="6937" y="667"/>
                </a:cubicBezTo>
                <a:cubicBezTo>
                  <a:pt x="6912" y="667"/>
                  <a:pt x="6886" y="671"/>
                  <a:pt x="6858" y="679"/>
                </a:cubicBezTo>
                <a:cubicBezTo>
                  <a:pt x="6775" y="726"/>
                  <a:pt x="6680" y="750"/>
                  <a:pt x="6596" y="786"/>
                </a:cubicBezTo>
                <a:cubicBezTo>
                  <a:pt x="6680" y="667"/>
                  <a:pt x="6763" y="512"/>
                  <a:pt x="6823" y="369"/>
                </a:cubicBezTo>
                <a:cubicBezTo>
                  <a:pt x="6834" y="310"/>
                  <a:pt x="6834" y="238"/>
                  <a:pt x="6787" y="191"/>
                </a:cubicBezTo>
                <a:cubicBezTo>
                  <a:pt x="6750" y="153"/>
                  <a:pt x="6703" y="135"/>
                  <a:pt x="6659" y="135"/>
                </a:cubicBezTo>
                <a:cubicBezTo>
                  <a:pt x="6632" y="135"/>
                  <a:pt x="6607" y="142"/>
                  <a:pt x="6584" y="155"/>
                </a:cubicBezTo>
                <a:cubicBezTo>
                  <a:pt x="6322" y="310"/>
                  <a:pt x="6061" y="393"/>
                  <a:pt x="5775" y="441"/>
                </a:cubicBezTo>
                <a:cubicBezTo>
                  <a:pt x="5465" y="143"/>
                  <a:pt x="5048" y="0"/>
                  <a:pt x="462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5" name="Google Shape;575;p49"/>
          <p:cNvSpPr txBox="1"/>
          <p:nvPr/>
        </p:nvSpPr>
        <p:spPr>
          <a:xfrm>
            <a:off x="2496150" y="4309854"/>
            <a:ext cx="41517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rPr>
              <a:t>Please keep this slide for attribution</a:t>
            </a:r>
            <a:endParaRPr sz="1200" dirty="0">
              <a:solidFill>
                <a:schemeClr val="dk1"/>
              </a:solidFill>
              <a:latin typeface="Akatab"/>
              <a:ea typeface="Akatab"/>
              <a:cs typeface="Akatab"/>
              <a:sym typeface="Akatab"/>
            </a:endParaRPr>
          </a:p>
        </p:txBody>
      </p:sp>
      <p:grpSp>
        <p:nvGrpSpPr>
          <p:cNvPr id="576" name="Google Shape;576;p49"/>
          <p:cNvGrpSpPr/>
          <p:nvPr/>
        </p:nvGrpSpPr>
        <p:grpSpPr>
          <a:xfrm>
            <a:off x="7855150" y="188101"/>
            <a:ext cx="81900" cy="4095600"/>
            <a:chOff x="7855150" y="188101"/>
            <a:chExt cx="81900" cy="4095600"/>
          </a:xfrm>
        </p:grpSpPr>
        <p:sp>
          <p:nvSpPr>
            <p:cNvPr id="577" name="Google Shape;577;p49"/>
            <p:cNvSpPr/>
            <p:nvPr/>
          </p:nvSpPr>
          <p:spPr>
            <a:xfrm rot="10800000">
              <a:off x="7855150" y="3777901"/>
              <a:ext cx="81900" cy="505800"/>
            </a:xfrm>
            <a:prstGeom prst="round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katab"/>
                <a:ea typeface="Akatab"/>
                <a:cs typeface="Akatab"/>
                <a:sym typeface="Akatab"/>
              </a:endParaRPr>
            </a:p>
          </p:txBody>
        </p:sp>
        <p:cxnSp>
          <p:nvCxnSpPr>
            <p:cNvPr id="578" name="Google Shape;578;p49"/>
            <p:cNvCxnSpPr/>
            <p:nvPr/>
          </p:nvCxnSpPr>
          <p:spPr>
            <a:xfrm rot="-5400000">
              <a:off x="5939200" y="2145001"/>
              <a:ext cx="3913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ot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579" name="Google Shape;579;p49"/>
          <p:cNvGrpSpPr/>
          <p:nvPr/>
        </p:nvGrpSpPr>
        <p:grpSpPr>
          <a:xfrm>
            <a:off x="8001425" y="192425"/>
            <a:ext cx="81900" cy="2811600"/>
            <a:chOff x="1044725" y="192425"/>
            <a:chExt cx="81900" cy="2811600"/>
          </a:xfrm>
        </p:grpSpPr>
        <p:sp>
          <p:nvSpPr>
            <p:cNvPr id="580" name="Google Shape;580;p49"/>
            <p:cNvSpPr/>
            <p:nvPr/>
          </p:nvSpPr>
          <p:spPr>
            <a:xfrm rot="10800000">
              <a:off x="1044725" y="2498225"/>
              <a:ext cx="81900" cy="50580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katab"/>
                <a:ea typeface="Akatab"/>
                <a:cs typeface="Akatab"/>
                <a:sym typeface="Akatab"/>
              </a:endParaRPr>
            </a:p>
          </p:txBody>
        </p:sp>
        <p:cxnSp>
          <p:nvCxnSpPr>
            <p:cNvPr id="581" name="Google Shape;581;p49"/>
            <p:cNvCxnSpPr>
              <a:stCxn id="580" idx="2"/>
            </p:cNvCxnSpPr>
            <p:nvPr/>
          </p:nvCxnSpPr>
          <p:spPr>
            <a:xfrm rot="10800000">
              <a:off x="1085675" y="192425"/>
              <a:ext cx="0" cy="23058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dot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469384208"/>
      </p:ext>
    </p:extLst>
  </p:cSld>
  <p:clrMapOvr>
    <a:masterClrMapping/>
  </p:clrMapOvr>
</p:sld>
</file>

<file path=ppt/theme/theme1.xml><?xml version="1.0" encoding="utf-8"?>
<a:theme xmlns:a="http://schemas.openxmlformats.org/drawingml/2006/main" name="Executive Design Company Profile by Slidesgo">
  <a:themeElements>
    <a:clrScheme name="Simple Light">
      <a:dk1>
        <a:srgbClr val="030920"/>
      </a:dk1>
      <a:lt1>
        <a:srgbClr val="EEEEEE"/>
      </a:lt1>
      <a:dk2>
        <a:srgbClr val="2A3250"/>
      </a:dk2>
      <a:lt2>
        <a:srgbClr val="526D82"/>
      </a:lt2>
      <a:accent1>
        <a:srgbClr val="9DB2BF"/>
      </a:accent1>
      <a:accent2>
        <a:srgbClr val="DDE6ED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3092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4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A194565-25D7-4196-AFBA-EBCB3F845924}">
  <we:reference id="wa200010001" version="1.0.0.1" store="es-MX" storeType="OMEX"/>
  <we:alternateReferences>
    <we:reference id="WA200010001" version="1.0.0.1" store="" storeType="OMEX"/>
  </we:alternateReferences>
  <we:properties>
    <we:property name="claude.fileId" value="&quot;a9c0d1ac-e396-43b0-85a2-f1aceb03dc4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763</Words>
  <Application>Microsoft Office PowerPoint</Application>
  <PresentationFormat>Presentación en pantalla (16:9)</PresentationFormat>
  <Paragraphs>95</Paragraphs>
  <Slides>12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7" baseType="lpstr">
      <vt:lpstr>Consolas</vt:lpstr>
      <vt:lpstr>Akatab</vt:lpstr>
      <vt:lpstr>Castoro</vt:lpstr>
      <vt:lpstr>Arial</vt:lpstr>
      <vt:lpstr>Executive Design Company Profile by Slidesgo</vt:lpstr>
      <vt:lpstr>Simulated Annealing vs Hill Climbing Implementación, comparativa y análisis de hiperparámetros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¡Gracias!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Patrick Ramirez</dc:creator>
  <cp:lastModifiedBy>Patrick Ramirez</cp:lastModifiedBy>
  <cp:revision>4</cp:revision>
  <dcterms:modified xsi:type="dcterms:W3CDTF">2026-04-30T17:05:54Z</dcterms:modified>
</cp:coreProperties>
</file>